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Ex1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charts/chartEx2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charts/chartEx3.xml" ContentType="application/vnd.ms-office.chartex+xml"/>
  <Override PartName="/ppt/charts/style4.xml" ContentType="application/vnd.ms-office.chartstyle+xml"/>
  <Override PartName="/ppt/charts/colors4.xml" ContentType="application/vnd.ms-office.chartcolorstyle+xml"/>
  <Override PartName="/ppt/charts/chart2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rawings/drawing1.xml" ContentType="application/vnd.openxmlformats-officedocument.drawingml.chartshapes+xml"/>
  <Override PartName="/ppt/charts/chart3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4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5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9" r:id="rId3"/>
    <p:sldId id="264" r:id="rId4"/>
    <p:sldId id="263" r:id="rId5"/>
    <p:sldId id="261" r:id="rId6"/>
    <p:sldId id="258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D5A3"/>
    <a:srgbClr val="237E5E"/>
    <a:srgbClr val="F7F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588"/>
    <p:restoredTop sz="94671"/>
  </p:normalViewPr>
  <p:slideViewPr>
    <p:cSldViewPr snapToGrid="0">
      <p:cViewPr>
        <p:scale>
          <a:sx n="74" d="100"/>
          <a:sy n="74" d="100"/>
        </p:scale>
        <p:origin x="712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uliasadykova/Downloads/&#1040;&#1083;&#1100;&#1092;&#1072;_&#1073;&#1072;&#1085;&#1082;_&#1058;&#1077;&#1089;&#1090;&#1086;&#1074;&#1086;&#1077;_&#1041;&#1080;&#1079;&#1085;&#1077;&#1089;_&#1089;&#1077;&#1082;&#1094;&#1080;&#1103;-3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uliasadykova/Downloads/&#1040;&#1083;&#1100;&#1092;&#1072;_&#1073;&#1072;&#1085;&#1082;_&#1058;&#1077;&#1089;&#1090;&#1086;&#1074;&#1086;&#1077;_&#1041;&#1080;&#1079;&#1085;&#1077;&#1089;_&#1089;&#1077;&#1082;&#1094;&#1080;&#1103;-3.xlsx" TargetMode="Externa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chartUserShapes" Target="../drawings/drawing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uliasadykova/Downloads/&#1040;&#1083;&#1100;&#1092;&#1072;_&#1073;&#1072;&#1085;&#1082;_&#1058;&#1077;&#1089;&#1090;&#1086;&#1074;&#1086;&#1077;_&#1041;&#1080;&#1079;&#1085;&#1077;&#1089;_&#1089;&#1077;&#1082;&#1094;&#1080;&#1103;-3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uliasadykova/Downloads/&#1040;&#1083;&#1100;&#1092;&#1072;_&#1073;&#1072;&#1085;&#1082;_&#1058;&#1077;&#1089;&#1090;&#1086;&#1074;&#1086;&#1077;_&#1041;&#1080;&#1079;&#1085;&#1077;&#1089;_&#1089;&#1077;&#1082;&#1094;&#1080;&#1103;-3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juliasadykova/Downloads/&#1040;&#1083;&#1100;&#1092;&#1072;_&#1073;&#1072;&#1085;&#1082;_&#1058;&#1077;&#1089;&#1090;&#1086;&#1074;&#1086;&#1077;_&#1041;&#1080;&#1079;&#1085;&#1077;&#1089;_&#1089;&#1077;&#1082;&#1094;&#1080;&#1103;-3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/Users/juliasadykova/Downloads/&#1040;&#1083;&#1100;&#1092;&#1072;_&#1073;&#1072;&#1085;&#1082;_&#1058;&#1077;&#1089;&#1090;&#1086;&#1074;&#1086;&#1077;_&#1041;&#1080;&#1079;&#1085;&#1077;&#1089;_&#1089;&#1077;&#1082;&#1094;&#1080;&#1103;-3.xlsx" TargetMode="External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/Users/juliasadykova/Downloads/&#1040;&#1083;&#1100;&#1092;&#1072;_&#1073;&#1072;&#1085;&#1082;_&#1058;&#1077;&#1089;&#1090;&#1086;&#1074;&#1086;&#1077;_&#1041;&#1080;&#1079;&#1085;&#1077;&#1089;_&#1089;&#1077;&#1082;&#1094;&#1080;&#1103;-3.xlsx" TargetMode="External"/></Relationships>
</file>

<file path=ppt/charts/_rels/chartEx3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/Users/juliasadykova/Downloads/&#1040;&#1083;&#1100;&#1092;&#1072;_&#1073;&#1072;&#1085;&#1082;_&#1058;&#1077;&#1089;&#1090;&#1086;&#1074;&#1086;&#1077;_&#1041;&#1080;&#1079;&#1085;&#1077;&#1089;_&#1089;&#1077;&#1082;&#1094;&#1080;&#1103;-3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Воронка по</a:t>
            </a:r>
            <a:r>
              <a:rPr lang="en-US"/>
              <a:t> в</a:t>
            </a:r>
            <a:r>
              <a:rPr lang="ru-RU"/>
              <a:t>сем каналам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конверсия!$B$1</c:f>
              <c:strCache>
                <c:ptCount val="1"/>
                <c:pt idx="0">
                  <c:v>Отправлено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cat>
            <c:strRef>
              <c:f>конверсия!$A$2:$A$5</c:f>
              <c:strCache>
                <c:ptCount val="4"/>
                <c:pt idx="0">
                  <c:v>CG</c:v>
                </c:pt>
                <c:pt idx="1">
                  <c:v>EMAIL</c:v>
                </c:pt>
                <c:pt idx="2">
                  <c:v>PUSH</c:v>
                </c:pt>
                <c:pt idx="3">
                  <c:v>SMS</c:v>
                </c:pt>
              </c:strCache>
            </c:strRef>
          </c:cat>
          <c:val>
            <c:numRef>
              <c:f>конверсия!$B$2:$B$5</c:f>
              <c:numCache>
                <c:formatCode>General</c:formatCode>
                <c:ptCount val="4"/>
                <c:pt idx="0">
                  <c:v>119</c:v>
                </c:pt>
                <c:pt idx="1">
                  <c:v>314</c:v>
                </c:pt>
                <c:pt idx="2">
                  <c:v>289</c:v>
                </c:pt>
                <c:pt idx="3">
                  <c:v>281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1E-3D46-9339-F950A3416D12}"/>
            </c:ext>
          </c:extLst>
        </c:ser>
        <c:ser>
          <c:idx val="1"/>
          <c:order val="1"/>
          <c:tx>
            <c:strRef>
              <c:f>конверсия!$C$1</c:f>
              <c:strCache>
                <c:ptCount val="1"/>
                <c:pt idx="0">
                  <c:v>Прочитано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конверсия!$A$2:$A$5</c:f>
              <c:strCache>
                <c:ptCount val="4"/>
                <c:pt idx="0">
                  <c:v>CG</c:v>
                </c:pt>
                <c:pt idx="1">
                  <c:v>EMAIL</c:v>
                </c:pt>
                <c:pt idx="2">
                  <c:v>PUSH</c:v>
                </c:pt>
                <c:pt idx="3">
                  <c:v>SMS</c:v>
                </c:pt>
              </c:strCache>
            </c:strRef>
          </c:cat>
          <c:val>
            <c:numRef>
              <c:f>конверсия!$C$2:$C$5</c:f>
              <c:numCache>
                <c:formatCode>General</c:formatCode>
                <c:ptCount val="4"/>
                <c:pt idx="0">
                  <c:v>0</c:v>
                </c:pt>
                <c:pt idx="1">
                  <c:v>163</c:v>
                </c:pt>
                <c:pt idx="2">
                  <c:v>154</c:v>
                </c:pt>
                <c:pt idx="3">
                  <c:v>156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C1E-3D46-9339-F950A3416D12}"/>
            </c:ext>
          </c:extLst>
        </c:ser>
        <c:ser>
          <c:idx val="2"/>
          <c:order val="2"/>
          <c:tx>
            <c:strRef>
              <c:f>конверсия!$D$1</c:f>
              <c:strCache>
                <c:ptCount val="1"/>
                <c:pt idx="0">
                  <c:v>Активировано</c:v>
                </c:pt>
              </c:strCache>
            </c:strRef>
          </c:tx>
          <c:spPr>
            <a:solidFill>
              <a:srgbClr val="3AD335"/>
            </a:solidFill>
            <a:ln>
              <a:noFill/>
            </a:ln>
            <a:effectLst/>
          </c:spPr>
          <c:invertIfNegative val="0"/>
          <c:cat>
            <c:strRef>
              <c:f>конверсия!$A$2:$A$5</c:f>
              <c:strCache>
                <c:ptCount val="4"/>
                <c:pt idx="0">
                  <c:v>CG</c:v>
                </c:pt>
                <c:pt idx="1">
                  <c:v>EMAIL</c:v>
                </c:pt>
                <c:pt idx="2">
                  <c:v>PUSH</c:v>
                </c:pt>
                <c:pt idx="3">
                  <c:v>SMS</c:v>
                </c:pt>
              </c:strCache>
            </c:strRef>
          </c:cat>
          <c:val>
            <c:numRef>
              <c:f>конверсия!$D$2:$D$5</c:f>
              <c:numCache>
                <c:formatCode>General</c:formatCode>
                <c:ptCount val="4"/>
                <c:pt idx="0">
                  <c:v>10</c:v>
                </c:pt>
                <c:pt idx="1">
                  <c:v>32</c:v>
                </c:pt>
                <c:pt idx="2">
                  <c:v>129</c:v>
                </c:pt>
                <c:pt idx="3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C1E-3D46-9339-F950A3416D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899357904"/>
        <c:axId val="1899414640"/>
      </c:barChart>
      <c:catAx>
        <c:axId val="1899357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99414640"/>
        <c:crosses val="autoZero"/>
        <c:auto val="1"/>
        <c:lblAlgn val="ctr"/>
        <c:lblOffset val="100"/>
        <c:noMultiLvlLbl val="0"/>
      </c:catAx>
      <c:valAx>
        <c:axId val="18994146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99357904"/>
        <c:crosses val="autoZero"/>
        <c:crossBetween val="between"/>
        <c:majorUnit val="50"/>
        <c:minorUnit val="1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Воронка по спецпредложениям</a:t>
            </a:r>
            <a:r>
              <a:rPr lang="ru-RU" baseline="0" dirty="0"/>
              <a:t> </a:t>
            </a:r>
            <a:r>
              <a:rPr lang="ru-RU" dirty="0"/>
              <a:t>в разрезе </a:t>
            </a:r>
          </a:p>
          <a:p>
            <a:pPr>
              <a:defRPr/>
            </a:pPr>
            <a:r>
              <a:rPr lang="ru-RU" dirty="0"/>
              <a:t>предложений и каналов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конверсия!$B$75</c:f>
              <c:strCache>
                <c:ptCount val="1"/>
                <c:pt idx="0">
                  <c:v>Бонус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конверсия!$A$76:$A$79</c:f>
              <c:strCache>
                <c:ptCount val="4"/>
                <c:pt idx="0">
                  <c:v>CG</c:v>
                </c:pt>
                <c:pt idx="1">
                  <c:v>EMAIL</c:v>
                </c:pt>
                <c:pt idx="2">
                  <c:v>PUSH</c:v>
                </c:pt>
                <c:pt idx="3">
                  <c:v>SMS</c:v>
                </c:pt>
              </c:strCache>
            </c:strRef>
          </c:cat>
          <c:val>
            <c:numRef>
              <c:f>конверсия!$B$76:$B$79</c:f>
              <c:numCache>
                <c:formatCode>0.0%</c:formatCode>
                <c:ptCount val="4"/>
                <c:pt idx="0">
                  <c:v>8.3333333333333329E-2</c:v>
                </c:pt>
                <c:pt idx="1">
                  <c:v>7.6923076923076927E-2</c:v>
                </c:pt>
                <c:pt idx="2">
                  <c:v>0.45544554455445546</c:v>
                </c:pt>
                <c:pt idx="3">
                  <c:v>0.35616438356164382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A9-CB43-820D-888D6ED92716}"/>
            </c:ext>
          </c:extLst>
        </c:ser>
        <c:ser>
          <c:idx val="1"/>
          <c:order val="1"/>
          <c:tx>
            <c:strRef>
              <c:f>конверсия!$C$75</c:f>
              <c:strCache>
                <c:ptCount val="1"/>
                <c:pt idx="0">
                  <c:v>Кэшбек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конверсия!$A$76:$A$79</c:f>
              <c:strCache>
                <c:ptCount val="4"/>
                <c:pt idx="0">
                  <c:v>CG</c:v>
                </c:pt>
                <c:pt idx="1">
                  <c:v>EMAIL</c:v>
                </c:pt>
                <c:pt idx="2">
                  <c:v>PUSH</c:v>
                </c:pt>
                <c:pt idx="3">
                  <c:v>SMS</c:v>
                </c:pt>
              </c:strCache>
            </c:strRef>
          </c:cat>
          <c:val>
            <c:numRef>
              <c:f>конверсия!$C$76:$C$79</c:f>
              <c:numCache>
                <c:formatCode>0.0%</c:formatCode>
                <c:ptCount val="4"/>
                <c:pt idx="0">
                  <c:v>9.6774193548387094E-2</c:v>
                </c:pt>
                <c:pt idx="1">
                  <c:v>9.8039215686274508E-2</c:v>
                </c:pt>
                <c:pt idx="2">
                  <c:v>0.449438202247191</c:v>
                </c:pt>
                <c:pt idx="3">
                  <c:v>0.32110091743119268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CA9-CB43-820D-888D6ED92716}"/>
            </c:ext>
          </c:extLst>
        </c:ser>
        <c:ser>
          <c:idx val="2"/>
          <c:order val="2"/>
          <c:tx>
            <c:strRef>
              <c:f>конверсия!$D$75</c:f>
              <c:strCache>
                <c:ptCount val="1"/>
                <c:pt idx="0">
                  <c:v>Скидка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конверсия!$A$76:$A$79</c:f>
              <c:strCache>
                <c:ptCount val="4"/>
                <c:pt idx="0">
                  <c:v>CG</c:v>
                </c:pt>
                <c:pt idx="1">
                  <c:v>EMAIL</c:v>
                </c:pt>
                <c:pt idx="2">
                  <c:v>PUSH</c:v>
                </c:pt>
                <c:pt idx="3">
                  <c:v>SMS</c:v>
                </c:pt>
              </c:strCache>
            </c:strRef>
          </c:cat>
          <c:val>
            <c:numRef>
              <c:f>конверсия!$D$76:$D$79</c:f>
              <c:numCache>
                <c:formatCode>0.0%</c:formatCode>
                <c:ptCount val="4"/>
                <c:pt idx="0">
                  <c:v>7.4999999999999997E-2</c:v>
                </c:pt>
                <c:pt idx="1">
                  <c:v>0.12962962962962962</c:v>
                </c:pt>
                <c:pt idx="2">
                  <c:v>0.43434343434343436</c:v>
                </c:pt>
                <c:pt idx="3">
                  <c:v>0.24242424242424243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CA9-CB43-820D-888D6ED927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72236431"/>
        <c:axId val="572269247"/>
      </c:barChart>
      <c:catAx>
        <c:axId val="5722364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72269247"/>
        <c:crosses val="autoZero"/>
        <c:auto val="1"/>
        <c:lblAlgn val="ctr"/>
        <c:lblOffset val="100"/>
        <c:noMultiLvlLbl val="0"/>
      </c:catAx>
      <c:valAx>
        <c:axId val="5722692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722364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/>
      </a:pPr>
      <a:endParaRPr lang="ru-RU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Воронка по предложениям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конверсия!$B$40</c:f>
              <c:strCache>
                <c:ptCount val="1"/>
                <c:pt idx="0">
                  <c:v>Отправлено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конверсия!$A$41:$A$43</c:f>
              <c:strCache>
                <c:ptCount val="3"/>
                <c:pt idx="0">
                  <c:v>Бонус</c:v>
                </c:pt>
                <c:pt idx="1">
                  <c:v>Кэшбек</c:v>
                </c:pt>
                <c:pt idx="2">
                  <c:v>Скидка</c:v>
                </c:pt>
              </c:strCache>
            </c:strRef>
          </c:cat>
          <c:val>
            <c:numRef>
              <c:f>конверсия!$B$41:$B$43</c:f>
              <c:numCache>
                <c:formatCode>General</c:formatCode>
                <c:ptCount val="3"/>
                <c:pt idx="0">
                  <c:v>326</c:v>
                </c:pt>
                <c:pt idx="1">
                  <c:v>331</c:v>
                </c:pt>
                <c:pt idx="2">
                  <c:v>346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3E-5343-B9FC-5EA8C06F915F}"/>
            </c:ext>
          </c:extLst>
        </c:ser>
        <c:ser>
          <c:idx val="1"/>
          <c:order val="1"/>
          <c:tx>
            <c:strRef>
              <c:f>конверсия!$C$40</c:f>
              <c:strCache>
                <c:ptCount val="1"/>
                <c:pt idx="0">
                  <c:v>Прочитано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конверсия!$A$41:$A$43</c:f>
              <c:strCache>
                <c:ptCount val="3"/>
                <c:pt idx="0">
                  <c:v>Бонус</c:v>
                </c:pt>
                <c:pt idx="1">
                  <c:v>Кэшбек</c:v>
                </c:pt>
                <c:pt idx="2">
                  <c:v>Скидка</c:v>
                </c:pt>
              </c:strCache>
            </c:strRef>
          </c:cat>
          <c:val>
            <c:numRef>
              <c:f>конверсия!$C$41:$C$43</c:f>
              <c:numCache>
                <c:formatCode>General</c:formatCode>
                <c:ptCount val="3"/>
                <c:pt idx="0">
                  <c:v>146</c:v>
                </c:pt>
                <c:pt idx="1">
                  <c:v>164</c:v>
                </c:pt>
                <c:pt idx="2">
                  <c:v>163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33E-5343-B9FC-5EA8C06F915F}"/>
            </c:ext>
          </c:extLst>
        </c:ser>
        <c:ser>
          <c:idx val="2"/>
          <c:order val="2"/>
          <c:tx>
            <c:strRef>
              <c:f>конверсия!$D$40</c:f>
              <c:strCache>
                <c:ptCount val="1"/>
                <c:pt idx="0">
                  <c:v>Активировано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конверсия!$A$41:$A$43</c:f>
              <c:strCache>
                <c:ptCount val="3"/>
                <c:pt idx="0">
                  <c:v>Бонус</c:v>
                </c:pt>
                <c:pt idx="1">
                  <c:v>Кэшбек</c:v>
                </c:pt>
                <c:pt idx="2">
                  <c:v>Скидка</c:v>
                </c:pt>
              </c:strCache>
            </c:strRef>
          </c:cat>
          <c:val>
            <c:numRef>
              <c:f>конверсия!$D$41:$D$43</c:f>
              <c:numCache>
                <c:formatCode>General</c:formatCode>
                <c:ptCount val="3"/>
                <c:pt idx="0">
                  <c:v>84</c:v>
                </c:pt>
                <c:pt idx="1">
                  <c:v>88</c:v>
                </c:pt>
                <c:pt idx="2">
                  <c:v>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33E-5343-B9FC-5EA8C06F91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85262095"/>
        <c:axId val="385263823"/>
      </c:barChart>
      <c:catAx>
        <c:axId val="3852620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85263823"/>
        <c:crosses val="autoZero"/>
        <c:auto val="1"/>
        <c:lblAlgn val="ctr"/>
        <c:lblOffset val="100"/>
        <c:noMultiLvlLbl val="0"/>
      </c:catAx>
      <c:valAx>
        <c:axId val="3852638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852620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Процент чтения и процент активации для каждого канала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конверсия!$E$1</c:f>
              <c:strCache>
                <c:ptCount val="1"/>
                <c:pt idx="0">
                  <c:v>% Чтения</c:v>
                </c:pt>
              </c:strCache>
            </c:strRef>
          </c:tx>
          <c:spPr>
            <a:solidFill>
              <a:srgbClr val="7030A0">
                <a:alpha val="69020"/>
              </a:srgbClr>
            </a:solidFill>
            <a:ln>
              <a:noFill/>
            </a:ln>
            <a:effectLst/>
          </c:spPr>
          <c:invertIfNegative val="0"/>
          <c:cat>
            <c:strRef>
              <c:f>конверсия!$A$2:$A$5</c:f>
              <c:strCache>
                <c:ptCount val="4"/>
                <c:pt idx="0">
                  <c:v>CG</c:v>
                </c:pt>
                <c:pt idx="1">
                  <c:v>EMAIL</c:v>
                </c:pt>
                <c:pt idx="2">
                  <c:v>PUSH</c:v>
                </c:pt>
                <c:pt idx="3">
                  <c:v>SMS</c:v>
                </c:pt>
              </c:strCache>
            </c:strRef>
          </c:cat>
          <c:val>
            <c:numRef>
              <c:f>конверсия!$E$2:$E$5</c:f>
              <c:numCache>
                <c:formatCode>0.0%</c:formatCode>
                <c:ptCount val="4"/>
                <c:pt idx="0">
                  <c:v>0</c:v>
                </c:pt>
                <c:pt idx="1">
                  <c:v>0.51910828025477707</c:v>
                </c:pt>
                <c:pt idx="2">
                  <c:v>0.53287197231833905</c:v>
                </c:pt>
                <c:pt idx="3">
                  <c:v>0.55516014234875444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A2-9B49-AF09-843A3C4C1DED}"/>
            </c:ext>
          </c:extLst>
        </c:ser>
        <c:ser>
          <c:idx val="1"/>
          <c:order val="1"/>
          <c:tx>
            <c:strRef>
              <c:f>конверсия!$F$1</c:f>
              <c:strCache>
                <c:ptCount val="1"/>
                <c:pt idx="0">
                  <c:v>% Активации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конверсия!$A$2:$A$5</c:f>
              <c:strCache>
                <c:ptCount val="4"/>
                <c:pt idx="0">
                  <c:v>CG</c:v>
                </c:pt>
                <c:pt idx="1">
                  <c:v>EMAIL</c:v>
                </c:pt>
                <c:pt idx="2">
                  <c:v>PUSH</c:v>
                </c:pt>
                <c:pt idx="3">
                  <c:v>SMS</c:v>
                </c:pt>
              </c:strCache>
            </c:strRef>
          </c:cat>
          <c:val>
            <c:numRef>
              <c:f>конверсия!$F$2:$F$5</c:f>
              <c:numCache>
                <c:formatCode>0.0%</c:formatCode>
                <c:ptCount val="4"/>
                <c:pt idx="0">
                  <c:v>8.4033613445378158E-2</c:v>
                </c:pt>
                <c:pt idx="1">
                  <c:v>0.10191082802547771</c:v>
                </c:pt>
                <c:pt idx="2">
                  <c:v>0.44636678200692043</c:v>
                </c:pt>
                <c:pt idx="3">
                  <c:v>0.302491103202847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1A2-9B49-AF09-843A3C4C1D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46988336"/>
        <c:axId val="1847061024"/>
      </c:barChart>
      <c:catAx>
        <c:axId val="1846988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47061024"/>
        <c:crosses val="autoZero"/>
        <c:auto val="1"/>
        <c:lblAlgn val="ctr"/>
        <c:lblOffset val="100"/>
        <c:noMultiLvlLbl val="0"/>
      </c:catAx>
      <c:valAx>
        <c:axId val="18470610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46988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Разница в конверсии каналов с контрольной группой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конверсия!$N$1</c:f>
              <c:strCache>
                <c:ptCount val="1"/>
                <c:pt idx="0">
                  <c:v>Разница с контрольной группой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конверсия!$L$3:$L$5</c:f>
              <c:strCache>
                <c:ptCount val="3"/>
                <c:pt idx="0">
                  <c:v>EMAIL</c:v>
                </c:pt>
                <c:pt idx="1">
                  <c:v>PUSH</c:v>
                </c:pt>
                <c:pt idx="2">
                  <c:v>SMS</c:v>
                </c:pt>
              </c:strCache>
            </c:strRef>
          </c:cat>
          <c:val>
            <c:numRef>
              <c:f>конверсия!$N$3:$N$5</c:f>
              <c:numCache>
                <c:formatCode>0.0</c:formatCode>
                <c:ptCount val="3"/>
                <c:pt idx="0">
                  <c:v>1.7877214580099554</c:v>
                </c:pt>
                <c:pt idx="1">
                  <c:v>36.233316856154232</c:v>
                </c:pt>
                <c:pt idx="2">
                  <c:v>21.845748975746883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58-504F-87A0-29B42B0735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78418751"/>
        <c:axId val="678420479"/>
      </c:barChart>
      <c:catAx>
        <c:axId val="678418751"/>
        <c:scaling>
          <c:orientation val="minMax"/>
        </c:scaling>
        <c:delete val="0"/>
        <c:axPos val="b"/>
        <c:numFmt formatCode="#,##0.0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78420479"/>
        <c:crosses val="autoZero"/>
        <c:auto val="1"/>
        <c:lblAlgn val="ctr"/>
        <c:lblOffset val="100"/>
        <c:noMultiLvlLbl val="0"/>
      </c:catAx>
      <c:valAx>
        <c:axId val="6784204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784187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/>
      </a:pPr>
      <a:endParaRPr lang="ru-RU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 dir="row">конверсия!$B$24:$D$24</cx:f>
        <cx:lvl ptCount="3">
          <cx:pt idx="0">Отправлено</cx:pt>
          <cx:pt idx="1">Прочитано</cx:pt>
          <cx:pt idx="2">Активировано</cx:pt>
        </cx:lvl>
      </cx:strDim>
      <cx:numDim type="val">
        <cx:f dir="row">конверсия!$B$25:$D$25</cx:f>
        <cx:lvl ptCount="3" formatCode="Основной">
          <cx:pt idx="0">314</cx:pt>
          <cx:pt idx="1">163</cx:pt>
          <cx:pt idx="2">32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>
                <a:solidFill>
                  <a:schemeClr val="tx1"/>
                </a:solidFill>
              </a:defRPr>
            </a:pPr>
            <a:r>
              <a:rPr lang="ru-RU" sz="1400" b="0" i="0" u="none" strike="noStrike" baseline="0">
                <a:solidFill>
                  <a:schemeClr val="tx1"/>
                </a:solidFill>
                <a:latin typeface="Calibri" panose="020F0502020204030204"/>
              </a:rPr>
              <a:t>Воронка E</a:t>
            </a:r>
            <a:r>
              <a:rPr lang="en-US" sz="1400" b="0" i="0" u="none" strike="noStrike" baseline="0">
                <a:solidFill>
                  <a:schemeClr val="tx1"/>
                </a:solidFill>
                <a:latin typeface="Calibri" panose="020F0502020204030204"/>
              </a:rPr>
              <a:t>MAIL</a:t>
            </a:r>
            <a:endParaRPr lang="ru-RU" sz="1400" b="0" i="0" u="none" strike="noStrike" baseline="0">
              <a:solidFill>
                <a:schemeClr val="tx1"/>
              </a:solidFill>
              <a:latin typeface="Calibri" panose="020F0502020204030204"/>
            </a:endParaRPr>
          </a:p>
        </cx:rich>
      </cx:tx>
    </cx:title>
    <cx:plotArea>
      <cx:plotAreaRegion>
        <cx:series layoutId="funnel" uniqueId="{36C38AA1-0DB0-9540-AB82-51A903812A7D}">
          <cx:tx>
            <cx:txData>
              <cx:f>конверсия!$A$25</cx:f>
              <cx:v>EMAIL</cx:v>
            </cx:txData>
          </cx:tx>
          <cx:spPr>
            <a:solidFill>
              <a:schemeClr val="accent5"/>
            </a:solidFill>
          </cx:spPr>
          <cx:dataLabels>
            <cx:txPr>
              <a:bodyPr vertOverflow="overflow" horzOverflow="overflow" wrap="square" lIns="0" tIns="0" rIns="0" bIns="0"/>
              <a:lstStyle/>
              <a:p>
                <a:pPr algn="ctr" rtl="0">
                  <a:defRPr sz="900" b="0" i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ru-RU">
                  <a:solidFill>
                    <a:schemeClr val="bg1"/>
                  </a:solidFill>
                </a:endParaRPr>
              </a:p>
            </cx:txPr>
            <cx:visibility seriesName="0" categoryName="0" value="1"/>
          </cx:dataLabels>
          <cx:dataId val="0"/>
        </cx:series>
      </cx:plotAreaRegion>
      <cx:axis id="0">
        <cx:catScaling gapWidth="0.0599999987"/>
        <cx:tickLabels/>
        <cx:txPr>
          <a:bodyPr vertOverflow="overflow" horzOverflow="overflow" wrap="square" lIns="0" tIns="0" rIns="0" bIns="0"/>
          <a:lstStyle/>
          <a:p>
            <a:pPr algn="ctr" rtl="0">
              <a:defRPr sz="900" b="0" i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ru-RU">
              <a:solidFill>
                <a:schemeClr val="tx1"/>
              </a:solidFill>
            </a:endParaRPr>
          </a:p>
        </cx:txPr>
      </cx:axis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 dir="row">конверсия!$B$24:$D$24</cx:f>
        <cx:lvl ptCount="3">
          <cx:pt idx="0">Отправлено</cx:pt>
          <cx:pt idx="1">Прочитано</cx:pt>
          <cx:pt idx="2">Активировано</cx:pt>
        </cx:lvl>
      </cx:strDim>
      <cx:numDim type="val">
        <cx:f dir="row">конверсия!$B$26:$D$26</cx:f>
        <cx:lvl ptCount="3" formatCode="Основной">
          <cx:pt idx="0">289</cx:pt>
          <cx:pt idx="1">154</cx:pt>
          <cx:pt idx="2">129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>
                <a:solidFill>
                  <a:schemeClr val="tx1"/>
                </a:solidFill>
              </a:defRPr>
            </a:pPr>
            <a:r>
              <a:rPr lang="en-US" sz="1400" b="0" i="0" u="none" strike="noStrike" baseline="0">
                <a:solidFill>
                  <a:schemeClr val="tx1"/>
                </a:solidFill>
                <a:latin typeface="Calibri" panose="020F0502020204030204"/>
              </a:rPr>
              <a:t>В</a:t>
            </a:r>
            <a:r>
              <a:rPr lang="ru-RU" sz="1400" b="0" i="0" u="none" strike="noStrike" baseline="0">
                <a:solidFill>
                  <a:schemeClr val="tx1"/>
                </a:solidFill>
                <a:latin typeface="Calibri" panose="020F0502020204030204"/>
              </a:rPr>
              <a:t>оронка P</a:t>
            </a:r>
            <a:r>
              <a:rPr lang="en-US" sz="1400" b="0" i="0" u="none" strike="noStrike" baseline="0">
                <a:solidFill>
                  <a:schemeClr val="tx1"/>
                </a:solidFill>
                <a:latin typeface="Calibri" panose="020F0502020204030204"/>
              </a:rPr>
              <a:t>USH</a:t>
            </a:r>
          </a:p>
        </cx:rich>
      </cx:tx>
    </cx:title>
    <cx:plotArea>
      <cx:plotAreaRegion>
        <cx:series layoutId="funnel" uniqueId="{B10CAAD0-C391-004A-99A1-3E3843844247}" formatIdx="1">
          <cx:tx>
            <cx:txData>
              <cx:f>конверсия!$A$26</cx:f>
              <cx:v>PUSH</cx:v>
            </cx:txData>
          </cx:tx>
          <cx:dataPt idx="0"/>
          <cx:dataLabels>
            <cx:txPr>
              <a:bodyPr vertOverflow="overflow" horzOverflow="overflow" wrap="square" lIns="0" tIns="0" rIns="0" bIns="0"/>
              <a:lstStyle/>
              <a:p>
                <a:pPr algn="ctr" rtl="0">
                  <a:defRPr sz="900" b="0" i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ru-RU">
                  <a:solidFill>
                    <a:schemeClr val="bg1"/>
                  </a:solidFill>
                </a:endParaRPr>
              </a:p>
            </cx:txPr>
            <cx:visibility seriesName="0" categoryName="0" value="1"/>
          </cx:dataLabels>
          <cx:dataId val="0"/>
        </cx:series>
      </cx:plotAreaRegion>
      <cx:axis id="0">
        <cx:catScaling/>
        <cx:tickLabels/>
        <cx:txPr>
          <a:bodyPr vertOverflow="overflow" horzOverflow="overflow" wrap="square" lIns="0" tIns="0" rIns="0" bIns="0"/>
          <a:lstStyle/>
          <a:p>
            <a:pPr algn="ctr" rtl="0">
              <a:defRPr sz="900" b="0" i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ru-RU">
              <a:solidFill>
                <a:schemeClr val="tx1"/>
              </a:solidFill>
            </a:endParaRPr>
          </a:p>
        </cx:txPr>
      </cx:axis>
    </cx:plotArea>
  </cx:chart>
</cx:chartSpace>
</file>

<file path=ppt/charts/chartEx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 dir="row">конверсия!$B$24:$D$24</cx:f>
        <cx:lvl ptCount="3">
          <cx:pt idx="0">Отправлено</cx:pt>
          <cx:pt idx="1">Прочитано</cx:pt>
          <cx:pt idx="2">Активировано</cx:pt>
        </cx:lvl>
      </cx:strDim>
      <cx:numDim type="val">
        <cx:f dir="row">конверсия!$B$27:$D$27</cx:f>
        <cx:lvl ptCount="3" formatCode="Основной">
          <cx:pt idx="0">281</cx:pt>
          <cx:pt idx="1">156</cx:pt>
          <cx:pt idx="2">85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>
                <a:solidFill>
                  <a:schemeClr val="tx1"/>
                </a:solidFill>
              </a:defRPr>
            </a:pPr>
            <a:r>
              <a:rPr lang="ru-RU" sz="1400" b="0" i="0" u="none" strike="noStrike" baseline="0">
                <a:solidFill>
                  <a:schemeClr val="tx1"/>
                </a:solidFill>
                <a:latin typeface="Calibri" panose="020F0502020204030204"/>
              </a:rPr>
              <a:t>Воронка S</a:t>
            </a:r>
            <a:r>
              <a:rPr lang="en-US" sz="1400" b="0" i="0" u="none" strike="noStrike" baseline="0">
                <a:solidFill>
                  <a:schemeClr val="tx1"/>
                </a:solidFill>
                <a:latin typeface="Calibri" panose="020F0502020204030204"/>
              </a:rPr>
              <a:t>MS</a:t>
            </a:r>
            <a:endParaRPr lang="ru-RU" sz="1400" b="0" i="0" u="none" strike="noStrike" baseline="0">
              <a:solidFill>
                <a:schemeClr val="tx1"/>
              </a:solidFill>
              <a:latin typeface="Calibri" panose="020F0502020204030204"/>
            </a:endParaRPr>
          </a:p>
        </cx:rich>
      </cx:tx>
    </cx:title>
    <cx:plotArea>
      <cx:plotAreaRegion>
        <cx:series layoutId="funnel" uniqueId="{36C38AA1-0DB0-9540-AB82-51A903812A7D}">
          <cx:tx>
            <cx:txData>
              <cx:f>конверсия!$A$25</cx:f>
              <cx:v>EMAIL</cx:v>
            </cx:txData>
          </cx:tx>
          <cx:spPr>
            <a:solidFill>
              <a:srgbClr val="237E5E"/>
            </a:solidFill>
          </cx:spPr>
          <cx:dataLabels>
            <cx:txPr>
              <a:bodyPr vertOverflow="overflow" horzOverflow="overflow" wrap="square" lIns="0" tIns="0" rIns="0" bIns="0"/>
              <a:lstStyle/>
              <a:p>
                <a:pPr algn="ctr" rtl="0">
                  <a:defRPr sz="900" b="0" i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ru-RU">
                  <a:solidFill>
                    <a:schemeClr val="bg1"/>
                  </a:solidFill>
                </a:endParaRPr>
              </a:p>
            </cx:txPr>
            <cx:visibility seriesName="0" categoryName="0" value="1"/>
          </cx:dataLabels>
          <cx:dataId val="0"/>
        </cx:series>
      </cx:plotAreaRegion>
      <cx:axis id="0">
        <cx:catScaling gapWidth="0.0599999987"/>
        <cx:tickLabels/>
        <cx:txPr>
          <a:bodyPr vertOverflow="overflow" horzOverflow="overflow" wrap="square" lIns="0" tIns="0" rIns="0" bIns="0"/>
          <a:lstStyle/>
          <a:p>
            <a:pPr algn="ctr" rtl="0">
              <a:defRPr sz="900" b="0" i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ru-RU">
              <a:solidFill>
                <a:schemeClr val="tx1"/>
              </a:solidFill>
            </a:endParaRPr>
          </a:p>
        </cx:txPr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0.89753</cdr:y>
    </cdr:from>
    <cdr:to>
      <cdr:x>0.21479</cdr:x>
      <cdr:y>1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32906949-0F9C-85FE-4CBD-9231B9739F4D}"/>
            </a:ext>
          </a:extLst>
        </cdr:cNvPr>
        <cdr:cNvSpPr txBox="1"/>
      </cdr:nvSpPr>
      <cdr:spPr>
        <a:xfrm xmlns:a="http://schemas.openxmlformats.org/drawingml/2006/main">
          <a:off x="-338413" y="4242678"/>
          <a:ext cx="1313700" cy="48437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ru-RU" sz="1000" dirty="0">
              <a:solidFill>
                <a:schemeClr val="bg2">
                  <a:lumMod val="50000"/>
                </a:schemeClr>
              </a:solidFill>
            </a:rPr>
            <a:t>Процент</a:t>
          </a:r>
        </a:p>
        <a:p xmlns:a="http://schemas.openxmlformats.org/drawingml/2006/main">
          <a:r>
            <a:rPr lang="ru-RU" sz="1000" dirty="0">
              <a:solidFill>
                <a:schemeClr val="bg2">
                  <a:lumMod val="50000"/>
                </a:schemeClr>
              </a:solidFill>
            </a:rPr>
            <a:t>конверсии</a:t>
          </a:r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0A9C49-071A-0D87-89DB-F827B2D531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15E6BF2-088C-83B2-A700-6D58F27112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712AE1-F5F7-91DB-8B6A-366E11274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9602-F560-4943-AE63-461C9F2F5840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760DE9-E1A0-4CB3-504F-A02620425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2F5728-31E1-3DF9-104C-B0AF0A25F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4C3EA-AB40-D542-A30E-04136E82AF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9250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3F6E56-912E-AE03-4C68-E33A1A484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65E7F2-9230-8E05-DC30-0F36DA5B5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EBC48B-B60F-1FB1-9FB2-BECD6B4B0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9602-F560-4943-AE63-461C9F2F5840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44D3B5-55D7-C86A-075E-8373E4A9C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C7BD1F-3D64-CD8F-5028-4EB1461CB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4C3EA-AB40-D542-A30E-04136E82AF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8371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A4A8D1-7F47-C591-9BFA-3E7349C94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E58128A-4D1F-CEEE-2492-BA78453A8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DE1C9F-AFD2-5A12-2562-C9E707530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9602-F560-4943-AE63-461C9F2F5840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8D9448-BCB9-DE3A-4F99-2589A74DF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89B818-D13C-35B9-9631-6659A8038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4C3EA-AB40-D542-A30E-04136E82AF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6590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0C6A18-5510-5586-C9DE-1E4AC02FC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30B332-A530-8C1C-A4CE-66FEF12F63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2E5F2CE-7AA5-F053-FB16-32E583433D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EF941D0-C2DA-8357-044C-D36F4EF22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9602-F560-4943-AE63-461C9F2F5840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E9FAE8E-E2C9-B428-B36B-930C05DD7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DB281B-F4EA-4E66-EF19-878043F6E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4C3EA-AB40-D542-A30E-04136E82AF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7390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3FC81D-BEBF-6F2E-3171-79371F5B8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4C1C77F-118B-2603-10C7-7F5902EFF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8E62F1C-F2F0-1768-F1A0-DB318E94E0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5D8848C-7ECC-2D15-B12E-ACE20F56A8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63AE599-F71B-6884-C857-30A0EF7DF9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AD667DD-D064-81BC-1247-AD914A877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9602-F560-4943-AE63-461C9F2F5840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593D882-7266-D238-C92B-31EA6DCF0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EBDD731-8E91-737D-9B34-19EA8EADD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4C3EA-AB40-D542-A30E-04136E82AF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681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A28C8D-16F9-0D1C-367A-64EA28C7E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CAEB9A9-2006-2EE4-A43C-E2F0ABE60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9602-F560-4943-AE63-461C9F2F5840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FC3A0EE-B9D9-FBFE-4E3F-0770D72E4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1C258DB-BFEF-15FE-B5FA-4CB64F7E0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4C3EA-AB40-D542-A30E-04136E82AF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300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A01631F-E327-931C-EF28-0B937CEED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9602-F560-4943-AE63-461C9F2F5840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A60D4A9-EE03-92AB-6212-2072D6B4D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1B363B-9A1B-B03A-396A-C63D3EF5E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4C3EA-AB40-D542-A30E-04136E82AF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5276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274DA8-BEAB-B2CD-7F14-720B53BD6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DDED9B-8483-7BB1-1E37-56C7DBD20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FC25B3-05C5-9E01-90AF-92280E4B55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0F89A7A-AAB4-24BF-162C-D63D928D4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9602-F560-4943-AE63-461C9F2F5840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0790C95-EF2C-E8EC-5EEC-602ECEB16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B8C673-F9A6-ADCD-45A6-E6478A5FC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4C3EA-AB40-D542-A30E-04136E82AF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1684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A98808-3C02-0FFD-D5DE-BA96DE2FA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B83F585-B616-EB4C-DFAD-7C4AD5FA56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CDAE878-4B1A-5ABC-0B3F-65D197B64A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4C984AE-EEF1-F399-F02C-6F9A97093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9602-F560-4943-AE63-461C9F2F5840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4EBCEE2-5C28-1CCF-87DC-836FFFE15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B78E53E-F808-A607-F03A-6C866A237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4C3EA-AB40-D542-A30E-04136E82AF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6134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7FCFBE-0080-A5E2-6271-C27638D5E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DCB1761-C4CB-C767-0427-D3F65E3A85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48CCC6-169E-2520-2228-96A68DAF2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9602-F560-4943-AE63-461C9F2F5840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6F775F-675E-80D4-9EFD-A07F7104C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E36968-8392-DE89-88BB-48409CEC8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4C3EA-AB40-D542-A30E-04136E82AF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9335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0F985CB-577B-2712-890E-B62F7A07AB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64F2D9F-ADA5-38CB-9796-FBCCFD55A0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D6703A-C1DF-EF0A-10E7-89B244448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39602-F560-4943-AE63-461C9F2F5840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1B3D29-E9C7-7832-97A0-3E01391BE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6C1E8B-6BE0-4B13-C45A-ABE332938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4C3EA-AB40-D542-A30E-04136E82AF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5393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41635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25BE2B-EE8B-78C3-FA29-5E080A46B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19F9355-E8E0-9548-C86C-E1E033769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CA1D53-B7E3-5A60-6A20-C9105D4BF4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039602-F560-4943-AE63-461C9F2F5840}" type="datetimeFigureOut">
              <a:rPr lang="ru-RU" smtClean="0"/>
              <a:t>06.07.2026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9C2CC2-1A43-DDAF-A228-AC477FCB73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25BA8B-3BE4-BDC8-142D-F33D906BF7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4C3EA-AB40-D542-A30E-04136E82AF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6277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7.xml"/><Relationship Id="rId6" Type="http://schemas.microsoft.com/office/2014/relationships/chartEx" Target="../charts/chartEx3.xml"/><Relationship Id="rId5" Type="http://schemas.openxmlformats.org/officeDocument/2006/relationships/image" Target="../media/image2.png"/><Relationship Id="rId4" Type="http://schemas.microsoft.com/office/2014/relationships/chartEx" Target="../charts/chartEx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9653E7-A69D-FD87-B8A7-575917019FB5}"/>
              </a:ext>
            </a:extLst>
          </p:cNvPr>
          <p:cNvSpPr txBox="1"/>
          <p:nvPr/>
        </p:nvSpPr>
        <p:spPr>
          <a:xfrm>
            <a:off x="1977452" y="369969"/>
            <a:ext cx="823709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/>
              <a:t>Анализ эффективности пилотных спецпредложений и оценка конверсии каналов коммуникации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4E9E9A-24B5-0669-F8AC-D47465039F9B}"/>
              </a:ext>
            </a:extLst>
          </p:cNvPr>
          <p:cNvSpPr txBox="1"/>
          <p:nvPr/>
        </p:nvSpPr>
        <p:spPr>
          <a:xfrm>
            <a:off x="770964" y="1402801"/>
            <a:ext cx="10650071" cy="6323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/>
              <a:t>Ключевые выводы: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1D1D1F"/>
                </a:solidFill>
                <a:effectLst/>
              </a:rPr>
              <a:t>Канал </a:t>
            </a:r>
            <a:r>
              <a:rPr lang="en" b="0" i="0" u="none" strike="noStrike" dirty="0">
                <a:solidFill>
                  <a:srgbClr val="1D1D1F"/>
                </a:solidFill>
                <a:effectLst/>
              </a:rPr>
              <a:t>PUSH</a:t>
            </a:r>
            <a:r>
              <a:rPr lang="ru-RU" b="0" i="0" u="none" strike="noStrike" dirty="0">
                <a:solidFill>
                  <a:srgbClr val="1D1D1F"/>
                </a:solidFill>
                <a:effectLst/>
              </a:rPr>
              <a:t> демонстрирует максимальную конверсию в активацию (44,6%)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dirty="0"/>
              <a:t>SMS </a:t>
            </a:r>
            <a:r>
              <a:rPr lang="ru-RU" dirty="0"/>
              <a:t>показывает лучший </a:t>
            </a:r>
            <a:r>
              <a:rPr lang="en" dirty="0"/>
              <a:t>CTR (55</a:t>
            </a:r>
            <a:r>
              <a:rPr lang="ru-RU" dirty="0"/>
              <a:t>,</a:t>
            </a:r>
            <a:r>
              <a:rPr lang="en" dirty="0"/>
              <a:t>5%), </a:t>
            </a:r>
            <a:r>
              <a:rPr lang="ru-RU" dirty="0"/>
              <a:t>но конверсия в активацию ниже </a:t>
            </a:r>
            <a:r>
              <a:rPr lang="en" dirty="0"/>
              <a:t>PUSH</a:t>
            </a:r>
            <a:endParaRPr lang="ru-RU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b="0" i="0" u="none" strike="noStrike" dirty="0">
                <a:solidFill>
                  <a:srgbClr val="1D1D1F"/>
                </a:solidFill>
                <a:effectLst/>
              </a:rPr>
              <a:t>EMAIL </a:t>
            </a:r>
            <a:r>
              <a:rPr lang="ru-RU" b="0" i="0" u="none" strike="noStrike" dirty="0">
                <a:solidFill>
                  <a:srgbClr val="1D1D1F"/>
                </a:solidFill>
                <a:effectLst/>
              </a:rPr>
              <a:t>показывает конверсию на уровне контрольной группы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1D1D1F"/>
                </a:solidFill>
                <a:effectLst/>
              </a:rPr>
              <a:t>Тип предложения (бонус, </a:t>
            </a:r>
            <a:r>
              <a:rPr lang="ru-RU" sz="1800" dirty="0">
                <a:solidFill>
                  <a:srgbClr val="1D1D1F"/>
                </a:solidFill>
              </a:rPr>
              <a:t>к</a:t>
            </a:r>
            <a:r>
              <a:rPr lang="ru-RU" sz="1800" b="0" i="0" u="none" strike="noStrike" dirty="0">
                <a:solidFill>
                  <a:srgbClr val="1D1D1F"/>
                </a:solidFill>
                <a:effectLst/>
              </a:rPr>
              <a:t>эшбек, скидка) почти не влияет на результат</a:t>
            </a:r>
            <a:endParaRPr lang="ru-RU" b="0" i="0" u="none" strike="noStrike" dirty="0">
              <a:solidFill>
                <a:srgbClr val="1D1D1F"/>
              </a:solidFill>
              <a:effectLst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dirty="0"/>
          </a:p>
          <a:p>
            <a:pPr>
              <a:lnSpc>
                <a:spcPct val="150000"/>
              </a:lnSpc>
            </a:pPr>
            <a:r>
              <a:rPr lang="ru-RU" b="1" dirty="0"/>
              <a:t>Рекомендации: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Увеличить долю </a:t>
            </a:r>
            <a:r>
              <a:rPr lang="en" dirty="0"/>
              <a:t>PUSH-</a:t>
            </a:r>
            <a:r>
              <a:rPr lang="ru-RU" dirty="0"/>
              <a:t>уведомлений 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Использовать </a:t>
            </a:r>
            <a:r>
              <a:rPr lang="en" dirty="0"/>
              <a:t>SMS </a:t>
            </a:r>
            <a:r>
              <a:rPr lang="ru-RU" dirty="0"/>
              <a:t>для массового охвата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Лучше тестировать каналы и контент, а не типы предложений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1D1D1F"/>
                </a:solidFill>
                <a:effectLst/>
                <a:latin typeface="system-ui"/>
              </a:rPr>
              <a:t>Пересмотреть стратегию развития </a:t>
            </a:r>
            <a:r>
              <a:rPr lang="en" b="0" i="0" u="none" strike="noStrike" dirty="0">
                <a:solidFill>
                  <a:srgbClr val="1D1D1F"/>
                </a:solidFill>
                <a:effectLst/>
                <a:latin typeface="system-ui"/>
              </a:rPr>
              <a:t>EMAIL-</a:t>
            </a:r>
            <a:r>
              <a:rPr lang="ru-RU" b="0" i="0" u="none" strike="noStrike" dirty="0">
                <a:solidFill>
                  <a:srgbClr val="1D1D1F"/>
                </a:solidFill>
                <a:effectLst/>
                <a:latin typeface="system-ui"/>
              </a:rPr>
              <a:t>коммуникаций</a:t>
            </a:r>
            <a:endParaRPr lang="ru-RU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" sz="2000" dirty="0"/>
          </a:p>
        </p:txBody>
      </p:sp>
    </p:spTree>
    <p:extLst>
      <p:ext uri="{BB962C8B-B14F-4D97-AF65-F5344CB8AC3E}">
        <p14:creationId xmlns:p14="http://schemas.microsoft.com/office/powerpoint/2010/main" val="2777078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9653E7-A69D-FD87-B8A7-575917019FB5}"/>
              </a:ext>
            </a:extLst>
          </p:cNvPr>
          <p:cNvSpPr txBox="1"/>
          <p:nvPr/>
        </p:nvSpPr>
        <p:spPr>
          <a:xfrm>
            <a:off x="1168020" y="300930"/>
            <a:ext cx="98559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/>
              <a:t>В канале </a:t>
            </a:r>
            <a:r>
              <a:rPr lang="en-US" sz="2400" dirty="0"/>
              <a:t>EMAIL </a:t>
            </a:r>
            <a:r>
              <a:rPr lang="ru-RU" sz="2400" dirty="0"/>
              <a:t>в течение исследования самая высокая разница между этапами прочтения и активации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4E9E9A-24B5-0669-F8AC-D47465039F9B}"/>
              </a:ext>
            </a:extLst>
          </p:cNvPr>
          <p:cNvSpPr txBox="1"/>
          <p:nvPr/>
        </p:nvSpPr>
        <p:spPr>
          <a:xfrm>
            <a:off x="6902823" y="1131927"/>
            <a:ext cx="5127811" cy="559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600" b="1" dirty="0"/>
              <a:t>Выводы: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sz="1600" dirty="0"/>
              <a:t>EMAIL</a:t>
            </a:r>
            <a:r>
              <a:rPr lang="ru-RU" sz="1600" dirty="0"/>
              <a:t> имеет самый высокий объем отправленных сообщений - 314, однако конверсия из прочтения составляет 19,6% (отношение числа активаций к прочтению)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sz="1600" dirty="0"/>
              <a:t>PUSH</a:t>
            </a:r>
            <a:r>
              <a:rPr lang="ru-RU" sz="1600" dirty="0"/>
              <a:t> - второй  канал по объему отправленных. Демонстрирует оптимальный баланс: 154 прочитанных, 129 активаций, 83,8% конверсия из прочтения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sz="1600" dirty="0"/>
              <a:t>SMS: 156 </a:t>
            </a:r>
            <a:r>
              <a:rPr lang="ru-RU" sz="1600" dirty="0"/>
              <a:t>прочитанных, 85 активаций, 54.5% конверсия из прочтения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sz="1600" dirty="0"/>
              <a:t>CG</a:t>
            </a:r>
            <a:r>
              <a:rPr lang="ru-RU" sz="1600" dirty="0"/>
              <a:t> - контрольная группа, демонстрирующая базовую активность. Конверсия из отправления – 8,4%, это естественный уровень без коммуникации</a:t>
            </a:r>
          </a:p>
          <a:p>
            <a:pPr>
              <a:lnSpc>
                <a:spcPct val="150000"/>
              </a:lnSpc>
            </a:pPr>
            <a:endParaRPr lang="ru-RU" sz="1600" b="1" dirty="0"/>
          </a:p>
        </p:txBody>
      </p:sp>
      <p:graphicFrame>
        <p:nvGraphicFramePr>
          <p:cNvPr id="2" name="Диаграмма 1">
            <a:extLst>
              <a:ext uri="{FF2B5EF4-FFF2-40B4-BE49-F238E27FC236}">
                <a16:creationId xmlns:a16="http://schemas.microsoft.com/office/drawing/2014/main" id="{25180EB5-1A85-C42E-235D-95D34F7669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3032344"/>
              </p:ext>
            </p:extLst>
          </p:nvPr>
        </p:nvGraphicFramePr>
        <p:xfrm>
          <a:off x="356431" y="1293291"/>
          <a:ext cx="6546392" cy="45941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24815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9653E7-A69D-FD87-B8A7-575917019FB5}"/>
              </a:ext>
            </a:extLst>
          </p:cNvPr>
          <p:cNvSpPr txBox="1"/>
          <p:nvPr/>
        </p:nvSpPr>
        <p:spPr>
          <a:xfrm>
            <a:off x="1168020" y="300930"/>
            <a:ext cx="9855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/>
              <a:t>Воронки по всем каналам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4E9E9A-24B5-0669-F8AC-D47465039F9B}"/>
              </a:ext>
            </a:extLst>
          </p:cNvPr>
          <p:cNvSpPr txBox="1"/>
          <p:nvPr/>
        </p:nvSpPr>
        <p:spPr>
          <a:xfrm>
            <a:off x="5647765" y="3849228"/>
            <a:ext cx="6544235" cy="3008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600" b="1" dirty="0"/>
              <a:t>Выводы: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sz="1600" b="0" i="0" u="none" strike="noStrike" dirty="0">
                <a:effectLst/>
                <a:latin typeface="system-ui"/>
              </a:rPr>
              <a:t>EMAIL </a:t>
            </a:r>
            <a:r>
              <a:rPr lang="ru-RU" sz="1600" b="0" i="0" u="none" strike="noStrike" dirty="0">
                <a:effectLst/>
                <a:latin typeface="system-ui"/>
              </a:rPr>
              <a:t>показывает наибольшие потери на этапе прочтение -&gt; активация (</a:t>
            </a:r>
            <a:r>
              <a:rPr lang="en-US" sz="1600" b="0" i="0" u="none" strike="noStrike" dirty="0">
                <a:effectLst/>
                <a:latin typeface="system-ui"/>
              </a:rPr>
              <a:t>90</a:t>
            </a:r>
            <a:r>
              <a:rPr lang="ru-RU" sz="1600" b="0" i="0" u="none" strike="noStrike" dirty="0">
                <a:effectLst/>
                <a:latin typeface="system-ui"/>
              </a:rPr>
              <a:t>% клиентов не совершают целевое действие)</a:t>
            </a:r>
            <a:endParaRPr lang="en-US" sz="1600" b="0" i="0" u="none" strike="noStrike" dirty="0">
              <a:effectLst/>
              <a:latin typeface="system-ui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sz="1600" b="0" i="0" u="none" strike="noStrike" dirty="0">
                <a:effectLst/>
                <a:latin typeface="system-ui"/>
              </a:rPr>
              <a:t>PUSH-</a:t>
            </a:r>
            <a:r>
              <a:rPr lang="ru-RU" sz="1600" b="0" i="0" u="none" strike="noStrike" dirty="0">
                <a:effectLst/>
                <a:latin typeface="system-ui"/>
              </a:rPr>
              <a:t>уведомления демонстрируют максимальную эффективность</a:t>
            </a:r>
            <a:r>
              <a:rPr lang="en-US" sz="1600" b="0" i="0" u="none" strike="noStrike" dirty="0">
                <a:effectLst/>
                <a:latin typeface="system-ui"/>
              </a:rPr>
              <a:t>:</a:t>
            </a:r>
            <a:r>
              <a:rPr lang="ru-RU" sz="1600" b="0" i="0" u="none" strike="noStrike" dirty="0">
                <a:effectLst/>
                <a:latin typeface="system-ui"/>
              </a:rPr>
              <a:t> 8</a:t>
            </a:r>
            <a:r>
              <a:rPr lang="en-US" sz="1600" b="0" i="0" u="none" strike="noStrike" dirty="0">
                <a:effectLst/>
                <a:latin typeface="system-ui"/>
              </a:rPr>
              <a:t>4</a:t>
            </a:r>
            <a:r>
              <a:rPr lang="ru-RU" sz="1600" b="0" i="0" u="none" strike="noStrike" dirty="0">
                <a:effectLst/>
                <a:latin typeface="system-ui"/>
              </a:rPr>
              <a:t>% прочитавших становятся активными клиентами</a:t>
            </a:r>
            <a:endParaRPr lang="en-US" sz="1600" b="0" i="0" u="none" strike="noStrike" dirty="0">
              <a:effectLst/>
              <a:latin typeface="system-ui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sz="1600" b="0" i="0" u="none" strike="noStrike" dirty="0">
                <a:effectLst/>
                <a:latin typeface="system-ui"/>
              </a:rPr>
              <a:t>SMS </a:t>
            </a:r>
            <a:r>
              <a:rPr lang="ru-RU" sz="1600" b="0" i="0" u="none" strike="noStrike" dirty="0">
                <a:effectLst/>
                <a:latin typeface="system-ui"/>
              </a:rPr>
              <a:t>лидирует по читаемости (56%), </a:t>
            </a:r>
            <a:r>
              <a:rPr lang="ru-RU" sz="1600" dirty="0">
                <a:latin typeface="system-ui"/>
              </a:rPr>
              <a:t>однако</a:t>
            </a:r>
            <a:r>
              <a:rPr lang="ru-RU" sz="1600" b="0" i="0" u="none" strike="noStrike" dirty="0">
                <a:effectLst/>
                <a:latin typeface="system-ui"/>
              </a:rPr>
              <a:t> теряет половину клиентов на этапе активации</a:t>
            </a:r>
            <a:endParaRPr lang="ru-RU" sz="1600" b="1" dirty="0"/>
          </a:p>
          <a:p>
            <a:pPr>
              <a:lnSpc>
                <a:spcPct val="150000"/>
              </a:lnSpc>
            </a:pPr>
            <a:endParaRPr lang="ru-RU" sz="1600" b="1" dirty="0"/>
          </a:p>
        </p:txBody>
      </p:sp>
      <mc:AlternateContent xmlns:mc="http://schemas.openxmlformats.org/markup-compatibility/2006">
        <mc:Choice xmlns:cx2="http://schemas.microsoft.com/office/drawing/2015/10/21/chartex" Requires="cx2">
          <p:graphicFrame>
            <p:nvGraphicFramePr>
              <p:cNvPr id="4" name="Диаграмма 3">
                <a:extLst>
                  <a:ext uri="{FF2B5EF4-FFF2-40B4-BE49-F238E27FC236}">
                    <a16:creationId xmlns:a16="http://schemas.microsoft.com/office/drawing/2014/main" id="{9B0CEE92-0CDA-AE2C-CD6B-A0EA7642C1FD}"/>
                  </a:ext>
                </a:extLst>
              </p:cNvPr>
              <p:cNvGraphicFramePr/>
              <p:nvPr/>
            </p:nvGraphicFramePr>
            <p:xfrm>
              <a:off x="701855" y="957417"/>
              <a:ext cx="4579783" cy="2657168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Диаграмма 3">
                <a:extLst>
                  <a:ext uri="{FF2B5EF4-FFF2-40B4-BE49-F238E27FC236}">
                    <a16:creationId xmlns:a16="http://schemas.microsoft.com/office/drawing/2014/main" id="{9B0CEE92-0CDA-AE2C-CD6B-A0EA7642C1F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1855" y="957417"/>
                <a:ext cx="4579783" cy="26571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2="http://schemas.microsoft.com/office/drawing/2015/10/21/chartex" Requires="cx2">
          <p:graphicFrame>
            <p:nvGraphicFramePr>
              <p:cNvPr id="5" name="Диаграмма 4">
                <a:extLst>
                  <a:ext uri="{FF2B5EF4-FFF2-40B4-BE49-F238E27FC236}">
                    <a16:creationId xmlns:a16="http://schemas.microsoft.com/office/drawing/2014/main" id="{F0A1DCFD-D2E2-A4D0-63B5-D9E471E3E3D2}"/>
                  </a:ext>
                </a:extLst>
              </p:cNvPr>
              <p:cNvGraphicFramePr/>
              <p:nvPr/>
            </p:nvGraphicFramePr>
            <p:xfrm>
              <a:off x="701855" y="3809407"/>
              <a:ext cx="4554384" cy="2651023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pic>
            <p:nvPicPr>
              <p:cNvPr id="5" name="Диаграмма 4">
                <a:extLst>
                  <a:ext uri="{FF2B5EF4-FFF2-40B4-BE49-F238E27FC236}">
                    <a16:creationId xmlns:a16="http://schemas.microsoft.com/office/drawing/2014/main" id="{F0A1DCFD-D2E2-A4D0-63B5-D9E471E3E3D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1855" y="3809407"/>
                <a:ext cx="4554384" cy="26510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2="http://schemas.microsoft.com/office/drawing/2015/10/21/chartex" Requires="cx2">
          <p:graphicFrame>
            <p:nvGraphicFramePr>
              <p:cNvPr id="7" name="Диаграмма 6">
                <a:extLst>
                  <a:ext uri="{FF2B5EF4-FFF2-40B4-BE49-F238E27FC236}">
                    <a16:creationId xmlns:a16="http://schemas.microsoft.com/office/drawing/2014/main" id="{F8270669-7716-F74A-BAB1-38D792721DD8}"/>
                  </a:ext>
                </a:extLst>
              </p:cNvPr>
              <p:cNvGraphicFramePr/>
              <p:nvPr/>
            </p:nvGraphicFramePr>
            <p:xfrm>
              <a:off x="6639749" y="977327"/>
              <a:ext cx="4560265" cy="2657168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6"/>
              </a:graphicData>
            </a:graphic>
          </p:graphicFrame>
        </mc:Choice>
        <mc:Fallback>
          <p:pic>
            <p:nvPicPr>
              <p:cNvPr id="7" name="Диаграмма 6">
                <a:extLst>
                  <a:ext uri="{FF2B5EF4-FFF2-40B4-BE49-F238E27FC236}">
                    <a16:creationId xmlns:a16="http://schemas.microsoft.com/office/drawing/2014/main" id="{F8270669-7716-F74A-BAB1-38D792721DD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39749" y="977327"/>
                <a:ext cx="4560265" cy="2657168"/>
              </a:xfrm>
              <a:prstGeom prst="rect">
                <a:avLst/>
              </a:prstGeom>
            </p:spPr>
          </p:pic>
        </mc:Fallback>
      </mc:AlternateContent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D5B3A5E-34E5-0D92-4A58-22D1E4F7F9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-9955"/>
            <a:ext cx="12192000" cy="6877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526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9653E7-A69D-FD87-B8A7-575917019FB5}"/>
              </a:ext>
            </a:extLst>
          </p:cNvPr>
          <p:cNvSpPr txBox="1"/>
          <p:nvPr/>
        </p:nvSpPr>
        <p:spPr>
          <a:xfrm>
            <a:off x="1652113" y="465000"/>
            <a:ext cx="98559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0" i="0" u="none" strike="noStrike" dirty="0">
                <a:solidFill>
                  <a:srgbClr val="1D1D1F"/>
                </a:solidFill>
                <a:effectLst/>
              </a:rPr>
              <a:t>Тип предложения (бонус, </a:t>
            </a:r>
            <a:r>
              <a:rPr lang="ru-RU" sz="2400" dirty="0">
                <a:solidFill>
                  <a:srgbClr val="1D1D1F"/>
                </a:solidFill>
              </a:rPr>
              <a:t>к</a:t>
            </a:r>
            <a:r>
              <a:rPr lang="ru-RU" sz="2400" b="0" i="0" u="none" strike="noStrike" dirty="0">
                <a:solidFill>
                  <a:srgbClr val="1D1D1F"/>
                </a:solidFill>
                <a:effectLst/>
              </a:rPr>
              <a:t>эшбек, скидка) почти не влияет на конверсию, важнее канал коммуникации</a:t>
            </a:r>
            <a:endParaRPr lang="ru-RU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4E9E9A-24B5-0669-F8AC-D47465039F9B}"/>
              </a:ext>
            </a:extLst>
          </p:cNvPr>
          <p:cNvSpPr txBox="1"/>
          <p:nvPr/>
        </p:nvSpPr>
        <p:spPr>
          <a:xfrm>
            <a:off x="6725777" y="1528317"/>
            <a:ext cx="5127811" cy="5035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/>
              <a:t>Выводы: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Разница между типа предложений статистически незначима – 2-3%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dirty="0"/>
              <a:t>EMAIL </a:t>
            </a:r>
            <a:r>
              <a:rPr lang="ru-RU" dirty="0"/>
              <a:t>показывает конверсию на уровне контрольной группы - кампания не работает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Предложения Бонус полученные по каналу </a:t>
            </a:r>
            <a:r>
              <a:rPr lang="ru-RU" dirty="0" err="1"/>
              <a:t>P</a:t>
            </a:r>
            <a:r>
              <a:rPr lang="en-US" dirty="0"/>
              <a:t>USH </a:t>
            </a:r>
            <a:r>
              <a:rPr lang="ru-RU" dirty="0"/>
              <a:t>имеют наибольшую конверсию</a:t>
            </a:r>
          </a:p>
          <a:p>
            <a:pPr>
              <a:lnSpc>
                <a:spcPct val="150000"/>
              </a:lnSpc>
            </a:pPr>
            <a:endParaRPr lang="ru-RU" b="1" dirty="0"/>
          </a:p>
          <a:p>
            <a:pPr>
              <a:lnSpc>
                <a:spcPct val="150000"/>
              </a:lnSpc>
            </a:pPr>
            <a:endParaRPr lang="ru-RU" dirty="0"/>
          </a:p>
          <a:p>
            <a:pPr>
              <a:lnSpc>
                <a:spcPct val="150000"/>
              </a:lnSpc>
            </a:pPr>
            <a:endParaRPr lang="ru-RU" dirty="0"/>
          </a:p>
          <a:p>
            <a:pPr>
              <a:lnSpc>
                <a:spcPct val="150000"/>
              </a:lnSpc>
            </a:pPr>
            <a:endParaRPr lang="ru-RU" b="1" dirty="0"/>
          </a:p>
          <a:p>
            <a:pPr>
              <a:lnSpc>
                <a:spcPct val="150000"/>
              </a:lnSpc>
            </a:pPr>
            <a:endParaRPr lang="ru-RU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1647BE-F61C-8CBC-CC07-1806A6A27E9F}"/>
              </a:ext>
            </a:extLst>
          </p:cNvPr>
          <p:cNvSpPr txBox="1"/>
          <p:nvPr/>
        </p:nvSpPr>
        <p:spPr>
          <a:xfrm>
            <a:off x="338412" y="5770995"/>
            <a:ext cx="5058341" cy="705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ru-RU" sz="1400" dirty="0"/>
          </a:p>
          <a:p>
            <a:pPr>
              <a:lnSpc>
                <a:spcPct val="150000"/>
              </a:lnSpc>
            </a:pPr>
            <a:endParaRPr lang="ru-RU" sz="1400" b="1" dirty="0"/>
          </a:p>
        </p:txBody>
      </p:sp>
      <p:graphicFrame>
        <p:nvGraphicFramePr>
          <p:cNvPr id="2" name="Диаграмма 1">
            <a:extLst>
              <a:ext uri="{FF2B5EF4-FFF2-40B4-BE49-F238E27FC236}">
                <a16:creationId xmlns:a16="http://schemas.microsoft.com/office/drawing/2014/main" id="{3BCB7DAA-3F92-F9D0-CBB2-53B11F7FD5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9786581"/>
              </p:ext>
            </p:extLst>
          </p:nvPr>
        </p:nvGraphicFramePr>
        <p:xfrm>
          <a:off x="338413" y="1528317"/>
          <a:ext cx="6116176" cy="47270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09182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9653E7-A69D-FD87-B8A7-575917019FB5}"/>
              </a:ext>
            </a:extLst>
          </p:cNvPr>
          <p:cNvSpPr txBox="1"/>
          <p:nvPr/>
        </p:nvSpPr>
        <p:spPr>
          <a:xfrm>
            <a:off x="753035" y="476850"/>
            <a:ext cx="107550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i="0" u="none" strike="noStrike" dirty="0">
                <a:solidFill>
                  <a:srgbClr val="1D1D1F"/>
                </a:solidFill>
                <a:effectLst/>
              </a:rPr>
              <a:t>Типы предложения демонстрирую равную эффективность</a:t>
            </a:r>
            <a:endParaRPr lang="ru-RU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4E9E9A-24B5-0669-F8AC-D47465039F9B}"/>
              </a:ext>
            </a:extLst>
          </p:cNvPr>
          <p:cNvSpPr txBox="1"/>
          <p:nvPr/>
        </p:nvSpPr>
        <p:spPr>
          <a:xfrm>
            <a:off x="6869213" y="1169729"/>
            <a:ext cx="5127811" cy="5394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/>
              <a:t>Выводы: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1D1D1F"/>
                </a:solidFill>
                <a:effectLst/>
              </a:rPr>
              <a:t>Разброс конверсии всего 2,3% (от 24</a:t>
            </a:r>
            <a:r>
              <a:rPr lang="en-US" b="0" i="0" u="none" strike="noStrike" dirty="0">
                <a:solidFill>
                  <a:srgbClr val="1D1D1F"/>
                </a:solidFill>
                <a:effectLst/>
              </a:rPr>
              <a:t>,</a:t>
            </a:r>
            <a:r>
              <a:rPr lang="ru-RU" b="0" i="0" u="none" strike="noStrike" dirty="0">
                <a:solidFill>
                  <a:srgbClr val="1D1D1F"/>
                </a:solidFill>
                <a:effectLst/>
              </a:rPr>
              <a:t>3% до 26</a:t>
            </a:r>
            <a:r>
              <a:rPr lang="en-US" b="0" i="0" u="none" strike="noStrike" dirty="0">
                <a:solidFill>
                  <a:srgbClr val="1D1D1F"/>
                </a:solidFill>
                <a:effectLst/>
              </a:rPr>
              <a:t>,</a:t>
            </a:r>
            <a:r>
              <a:rPr lang="ru-RU" b="0" i="0" u="none" strike="noStrike" dirty="0">
                <a:solidFill>
                  <a:srgbClr val="1D1D1F"/>
                </a:solidFill>
                <a:effectLst/>
              </a:rPr>
              <a:t>6%)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1D1D1F"/>
                </a:solidFill>
                <a:effectLst/>
              </a:rPr>
              <a:t>Кэшбек - лидер по эффективности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1D1D1F"/>
                </a:solidFill>
                <a:effectLst/>
              </a:rPr>
              <a:t>Скидка имеет наибольший охват (345 </a:t>
            </a:r>
            <a:r>
              <a:rPr lang="ru-RU" dirty="0">
                <a:solidFill>
                  <a:srgbClr val="1D1D1F"/>
                </a:solidFill>
              </a:rPr>
              <a:t>отправлений</a:t>
            </a:r>
            <a:r>
              <a:rPr lang="ru-RU" b="0" i="0" u="none" strike="noStrike" dirty="0">
                <a:solidFill>
                  <a:srgbClr val="1D1D1F"/>
                </a:solidFill>
                <a:effectLst/>
              </a:rPr>
              <a:t>), но демонстрирует низшую конверсию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1D1D1F"/>
                </a:solidFill>
                <a:effectLst/>
              </a:rPr>
              <a:t>Бонус имеет наименьший объем и средний показатель конверсии (25,8%)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ru-RU" sz="1600" b="0" i="0" u="none" strike="noStrike" dirty="0">
              <a:solidFill>
                <a:srgbClr val="1D1D1F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ru-RU" sz="1600" b="0" i="0" u="none" strike="noStrike" dirty="0">
              <a:solidFill>
                <a:srgbClr val="1D1D1F"/>
              </a:solidFill>
              <a:effectLst/>
            </a:endParaRPr>
          </a:p>
          <a:p>
            <a:pPr>
              <a:lnSpc>
                <a:spcPct val="150000"/>
              </a:lnSpc>
            </a:pPr>
            <a:endParaRPr lang="ru-RU" sz="1600" dirty="0"/>
          </a:p>
          <a:p>
            <a:pPr>
              <a:lnSpc>
                <a:spcPct val="150000"/>
              </a:lnSpc>
            </a:pPr>
            <a:endParaRPr lang="ru-RU" sz="1600" b="1" dirty="0"/>
          </a:p>
          <a:p>
            <a:pPr>
              <a:lnSpc>
                <a:spcPct val="150000"/>
              </a:lnSpc>
            </a:pPr>
            <a:endParaRPr lang="ru-RU" sz="1600" b="1" dirty="0"/>
          </a:p>
        </p:txBody>
      </p:sp>
      <p:graphicFrame>
        <p:nvGraphicFramePr>
          <p:cNvPr id="2" name="Диаграмма 1">
            <a:extLst>
              <a:ext uri="{FF2B5EF4-FFF2-40B4-BE49-F238E27FC236}">
                <a16:creationId xmlns:a16="http://schemas.microsoft.com/office/drawing/2014/main" id="{CD6E86A3-897D-5360-3C1C-CBCD13E2CA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2340843"/>
              </p:ext>
            </p:extLst>
          </p:nvPr>
        </p:nvGraphicFramePr>
        <p:xfrm>
          <a:off x="338412" y="1307847"/>
          <a:ext cx="6357842" cy="48528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96533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9653E7-A69D-FD87-B8A7-575917019FB5}"/>
              </a:ext>
            </a:extLst>
          </p:cNvPr>
          <p:cNvSpPr txBox="1"/>
          <p:nvPr/>
        </p:nvSpPr>
        <p:spPr>
          <a:xfrm>
            <a:off x="1652113" y="465000"/>
            <a:ext cx="98559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2400" b="0" i="0" u="none" strike="noStrike" dirty="0">
                <a:solidFill>
                  <a:srgbClr val="1D1D1F"/>
                </a:solidFill>
                <a:effectLst/>
              </a:rPr>
              <a:t>PUSH</a:t>
            </a:r>
            <a:r>
              <a:rPr lang="ru-RU" sz="2400" b="0" i="0" u="none" strike="noStrike" dirty="0">
                <a:solidFill>
                  <a:srgbClr val="1D1D1F"/>
                </a:solidFill>
                <a:effectLst/>
              </a:rPr>
              <a:t> – лидирует по числу активных после коммуникации пользователей</a:t>
            </a:r>
            <a:endParaRPr lang="ru-RU" sz="2400" dirty="0"/>
          </a:p>
          <a:p>
            <a:pPr algn="ctr"/>
            <a:endParaRPr lang="ru-RU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4E9E9A-24B5-0669-F8AC-D47465039F9B}"/>
              </a:ext>
            </a:extLst>
          </p:cNvPr>
          <p:cNvSpPr txBox="1"/>
          <p:nvPr/>
        </p:nvSpPr>
        <p:spPr>
          <a:xfrm>
            <a:off x="6725777" y="1528317"/>
            <a:ext cx="5127811" cy="6332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600" b="1" dirty="0"/>
              <a:t>Выводы: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/>
              <a:t>Конверсия в активацию между каналами имеет более выраженную по сравнению с метрикой чтения.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/>
              <a:t>Конверсия в активацию: </a:t>
            </a:r>
            <a:r>
              <a:rPr lang="en" sz="1600" dirty="0"/>
              <a:t>PUSH (44.6%) &gt; SMS (30.2%) &gt; EMAIL (10.2%)</a:t>
            </a:r>
            <a:endParaRPr lang="ru-RU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/>
              <a:t>Процент чтения в трех каналах почти равен, значит, каналы доставки работают с одинаковой эффективностью.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sz="1600" b="0" i="0" u="none" strike="noStrike" dirty="0">
                <a:solidFill>
                  <a:srgbClr val="1D1D1F"/>
                </a:solidFill>
                <a:effectLst/>
                <a:latin typeface="system-ui"/>
              </a:rPr>
              <a:t>PUSH</a:t>
            </a:r>
            <a:r>
              <a:rPr lang="ru-RU" sz="1600" b="0" i="0" u="none" strike="noStrike" dirty="0">
                <a:solidFill>
                  <a:srgbClr val="1D1D1F"/>
                </a:solidFill>
                <a:effectLst/>
                <a:latin typeface="system-ui"/>
              </a:rPr>
              <a:t> – лидирует по числу активных после коммуникации пользователей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sz="1600" b="0" i="0" u="none" strike="noStrike" dirty="0">
                <a:solidFill>
                  <a:srgbClr val="1D1D1F"/>
                </a:solidFill>
                <a:effectLst/>
                <a:latin typeface="system-ui"/>
              </a:rPr>
              <a:t>SMS </a:t>
            </a:r>
            <a:r>
              <a:rPr lang="ru-RU" sz="1600" b="0" i="0" u="none" strike="noStrike" dirty="0">
                <a:solidFill>
                  <a:srgbClr val="1D1D1F"/>
                </a:solidFill>
                <a:effectLst/>
                <a:latin typeface="system-ui"/>
              </a:rPr>
              <a:t>лидирует по читаемости – 55,5%, </a:t>
            </a:r>
            <a:r>
              <a:rPr lang="en-US" sz="1600" b="0" i="0" u="none" strike="noStrike" dirty="0" err="1">
                <a:solidFill>
                  <a:srgbClr val="1D1D1F"/>
                </a:solidFill>
                <a:effectLst/>
                <a:latin typeface="system-ui"/>
              </a:rPr>
              <a:t>о</a:t>
            </a:r>
            <a:r>
              <a:rPr lang="ru-RU" sz="1600" b="0" i="0" u="none" strike="noStrike" dirty="0" err="1">
                <a:solidFill>
                  <a:srgbClr val="1D1D1F"/>
                </a:solidFill>
                <a:effectLst/>
                <a:latin typeface="system-ui"/>
              </a:rPr>
              <a:t>днако</a:t>
            </a:r>
            <a:r>
              <a:rPr lang="ru-RU" sz="1600" b="0" i="0" u="none" strike="noStrike" dirty="0">
                <a:solidFill>
                  <a:srgbClr val="1D1D1F"/>
                </a:solidFill>
                <a:effectLst/>
                <a:latin typeface="system-ui"/>
              </a:rPr>
              <a:t> </a:t>
            </a:r>
            <a:r>
              <a:rPr lang="en" sz="1600" b="0" i="0" u="none" strike="noStrike" dirty="0">
                <a:solidFill>
                  <a:srgbClr val="1D1D1F"/>
                </a:solidFill>
                <a:effectLst/>
                <a:latin typeface="system-ui"/>
              </a:rPr>
              <a:t>PUSH </a:t>
            </a:r>
            <a:r>
              <a:rPr lang="ru-RU" sz="1600" b="0" i="0" u="none" strike="noStrike" dirty="0">
                <a:solidFill>
                  <a:srgbClr val="1D1D1F"/>
                </a:solidFill>
                <a:effectLst/>
                <a:latin typeface="system-ui"/>
              </a:rPr>
              <a:t>лучше конвертирует в целевое действие </a:t>
            </a:r>
            <a:r>
              <a:rPr lang="en-US" sz="1600" b="0" i="0" u="none" strike="noStrike" dirty="0">
                <a:solidFill>
                  <a:srgbClr val="1D1D1F"/>
                </a:solidFill>
                <a:effectLst/>
                <a:latin typeface="system-ui"/>
              </a:rPr>
              <a:t> - </a:t>
            </a:r>
            <a:r>
              <a:rPr lang="ru-RU" sz="1600" b="0" i="0" u="none" strike="noStrike" dirty="0">
                <a:solidFill>
                  <a:srgbClr val="1D1D1F"/>
                </a:solidFill>
                <a:effectLst/>
                <a:latin typeface="system-ui"/>
              </a:rPr>
              <a:t>44.6%</a:t>
            </a:r>
          </a:p>
          <a:p>
            <a:pPr>
              <a:lnSpc>
                <a:spcPct val="150000"/>
              </a:lnSpc>
            </a:pPr>
            <a:endParaRPr lang="ru-RU" sz="1600" dirty="0"/>
          </a:p>
          <a:p>
            <a:pPr>
              <a:lnSpc>
                <a:spcPct val="150000"/>
              </a:lnSpc>
            </a:pPr>
            <a:endParaRPr lang="ru-RU" sz="1600" dirty="0"/>
          </a:p>
          <a:p>
            <a:pPr>
              <a:lnSpc>
                <a:spcPct val="150000"/>
              </a:lnSpc>
            </a:pPr>
            <a:endParaRPr lang="ru-RU" sz="1600" b="1" dirty="0"/>
          </a:p>
          <a:p>
            <a:pPr>
              <a:lnSpc>
                <a:spcPct val="150000"/>
              </a:lnSpc>
            </a:pPr>
            <a:endParaRPr lang="ru-RU" sz="1600" b="1" dirty="0"/>
          </a:p>
        </p:txBody>
      </p:sp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D9699273-3871-09F6-9660-6C26D33101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4930435"/>
              </p:ext>
            </p:extLst>
          </p:nvPr>
        </p:nvGraphicFramePr>
        <p:xfrm>
          <a:off x="338412" y="1528317"/>
          <a:ext cx="6241681" cy="42225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C1647BE-F61C-8CBC-CC07-1806A6A27E9F}"/>
              </a:ext>
            </a:extLst>
          </p:cNvPr>
          <p:cNvSpPr txBox="1"/>
          <p:nvPr/>
        </p:nvSpPr>
        <p:spPr>
          <a:xfrm>
            <a:off x="338412" y="5770995"/>
            <a:ext cx="5058341" cy="1351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400" dirty="0"/>
              <a:t>%</a:t>
            </a:r>
            <a:r>
              <a:rPr lang="en-US" sz="1400" dirty="0"/>
              <a:t> </a:t>
            </a:r>
            <a:r>
              <a:rPr lang="ru-RU" sz="1400" dirty="0"/>
              <a:t>чтения = прочитано /</a:t>
            </a:r>
            <a:r>
              <a:rPr lang="en-US" sz="1400" dirty="0"/>
              <a:t> </a:t>
            </a:r>
            <a:r>
              <a:rPr lang="en-US" sz="1400" dirty="0" err="1"/>
              <a:t>о</a:t>
            </a:r>
            <a:r>
              <a:rPr lang="ru-RU" sz="1400" dirty="0" err="1"/>
              <a:t>тправлено</a:t>
            </a:r>
            <a:endParaRPr lang="ru-RU" sz="1400" dirty="0"/>
          </a:p>
          <a:p>
            <a:pPr>
              <a:lnSpc>
                <a:spcPct val="150000"/>
              </a:lnSpc>
            </a:pPr>
            <a:r>
              <a:rPr lang="ru-RU" sz="1400" dirty="0"/>
              <a:t>%</a:t>
            </a:r>
            <a:r>
              <a:rPr lang="en-US" sz="1400" dirty="0"/>
              <a:t> </a:t>
            </a:r>
            <a:r>
              <a:rPr lang="ru-RU" sz="1400" dirty="0"/>
              <a:t>активации = активация /</a:t>
            </a:r>
            <a:r>
              <a:rPr lang="en-US" sz="1400" dirty="0"/>
              <a:t> </a:t>
            </a:r>
            <a:r>
              <a:rPr lang="en-US" sz="1400" dirty="0" err="1"/>
              <a:t>о</a:t>
            </a:r>
            <a:r>
              <a:rPr lang="ru-RU" sz="1400" dirty="0" err="1"/>
              <a:t>тправлено</a:t>
            </a:r>
            <a:endParaRPr lang="ru-RU" sz="1400" dirty="0"/>
          </a:p>
          <a:p>
            <a:pPr>
              <a:lnSpc>
                <a:spcPct val="150000"/>
              </a:lnSpc>
            </a:pPr>
            <a:endParaRPr lang="ru-RU" sz="1400" dirty="0"/>
          </a:p>
          <a:p>
            <a:pPr>
              <a:lnSpc>
                <a:spcPct val="150000"/>
              </a:lnSpc>
            </a:pPr>
            <a:endParaRPr lang="ru-RU" sz="1400" b="1" dirty="0"/>
          </a:p>
        </p:txBody>
      </p:sp>
    </p:spTree>
    <p:extLst>
      <p:ext uri="{BB962C8B-B14F-4D97-AF65-F5344CB8AC3E}">
        <p14:creationId xmlns:p14="http://schemas.microsoft.com/office/powerpoint/2010/main" val="1132060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9653E7-A69D-FD87-B8A7-575917019FB5}"/>
              </a:ext>
            </a:extLst>
          </p:cNvPr>
          <p:cNvSpPr txBox="1"/>
          <p:nvPr/>
        </p:nvSpPr>
        <p:spPr>
          <a:xfrm>
            <a:off x="753035" y="476850"/>
            <a:ext cx="107550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i="0" u="none" strike="noStrike" dirty="0">
                <a:solidFill>
                  <a:srgbClr val="1D1D1F"/>
                </a:solidFill>
                <a:effectLst/>
              </a:rPr>
              <a:t>Группа </a:t>
            </a:r>
            <a:r>
              <a:rPr lang="en" sz="2400" i="0" u="none" strike="noStrike" dirty="0">
                <a:solidFill>
                  <a:srgbClr val="1D1D1F"/>
                </a:solidFill>
                <a:effectLst/>
              </a:rPr>
              <a:t>CG </a:t>
            </a:r>
            <a:r>
              <a:rPr lang="ru-RU" sz="2400" i="0" u="none" strike="noStrike" dirty="0">
                <a:solidFill>
                  <a:srgbClr val="1D1D1F"/>
                </a:solidFill>
                <a:effectLst/>
              </a:rPr>
              <a:t>имеет метрику активности - 8,4%. Клиенты, не читавшие сообщение, становятся активными из-за внешних факторов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4E9E9A-24B5-0669-F8AC-D47465039F9B}"/>
              </a:ext>
            </a:extLst>
          </p:cNvPr>
          <p:cNvSpPr txBox="1"/>
          <p:nvPr/>
        </p:nvSpPr>
        <p:spPr>
          <a:xfrm>
            <a:off x="6779567" y="1562976"/>
            <a:ext cx="5127811" cy="3732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/>
              <a:t>Эффект маркетинговой кампании:</a:t>
            </a:r>
          </a:p>
          <a:p>
            <a:pPr>
              <a:lnSpc>
                <a:spcPct val="150000"/>
              </a:lnSpc>
            </a:pPr>
            <a:r>
              <a:rPr lang="en" dirty="0"/>
              <a:t>PUSH: 44.6% - 8.4% = 36.2% </a:t>
            </a:r>
            <a:r>
              <a:rPr lang="ru-RU" dirty="0"/>
              <a:t>чистого эффекта</a:t>
            </a:r>
          </a:p>
          <a:p>
            <a:pPr>
              <a:lnSpc>
                <a:spcPct val="150000"/>
              </a:lnSpc>
            </a:pPr>
            <a:r>
              <a:rPr lang="en" dirty="0"/>
              <a:t>SMS: 30.2% - 8.4% = 21.8% </a:t>
            </a:r>
            <a:r>
              <a:rPr lang="ru-RU" dirty="0"/>
              <a:t>чистого эффекта</a:t>
            </a:r>
          </a:p>
          <a:p>
            <a:pPr>
              <a:lnSpc>
                <a:spcPct val="150000"/>
              </a:lnSpc>
            </a:pPr>
            <a:r>
              <a:rPr lang="en" dirty="0"/>
              <a:t>EMAIL: 10.2% - 8.4% = 1.8% </a:t>
            </a:r>
            <a:r>
              <a:rPr lang="ru-RU" dirty="0"/>
              <a:t>чистого эффекта</a:t>
            </a:r>
          </a:p>
          <a:p>
            <a:pPr>
              <a:lnSpc>
                <a:spcPct val="150000"/>
              </a:lnSpc>
            </a:pPr>
            <a:endParaRPr lang="ru-RU" b="1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ru-RU" sz="1600" b="0" i="0" u="none" strike="noStrike" dirty="0">
              <a:solidFill>
                <a:srgbClr val="1D1D1F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ru-RU" sz="1600" b="0" i="0" u="none" strike="noStrike" dirty="0">
              <a:solidFill>
                <a:srgbClr val="1D1D1F"/>
              </a:solidFill>
              <a:effectLst/>
            </a:endParaRPr>
          </a:p>
          <a:p>
            <a:pPr>
              <a:lnSpc>
                <a:spcPct val="150000"/>
              </a:lnSpc>
            </a:pPr>
            <a:endParaRPr lang="ru-RU" sz="1600" dirty="0"/>
          </a:p>
          <a:p>
            <a:pPr>
              <a:lnSpc>
                <a:spcPct val="150000"/>
              </a:lnSpc>
            </a:pPr>
            <a:endParaRPr lang="ru-RU" sz="1600" b="1" dirty="0"/>
          </a:p>
          <a:p>
            <a:pPr>
              <a:lnSpc>
                <a:spcPct val="150000"/>
              </a:lnSpc>
            </a:pPr>
            <a:endParaRPr lang="ru-RU" sz="1600" b="1" dirty="0"/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69B8F598-8C33-E323-BAD3-3F17BD48C1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1159455"/>
              </p:ext>
            </p:extLst>
          </p:nvPr>
        </p:nvGraphicFramePr>
        <p:xfrm>
          <a:off x="463917" y="1481827"/>
          <a:ext cx="6088603" cy="47253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1E87C3E-99C9-E5B3-8903-76178233CDCC}"/>
              </a:ext>
            </a:extLst>
          </p:cNvPr>
          <p:cNvSpPr txBox="1"/>
          <p:nvPr/>
        </p:nvSpPr>
        <p:spPr>
          <a:xfrm>
            <a:off x="463917" y="6381150"/>
            <a:ext cx="5799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Разница с контрольной группой = конверсия канала – конверсия </a:t>
            </a:r>
            <a:r>
              <a:rPr lang="en-US" sz="1400" dirty="0"/>
              <a:t>CG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6734900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{7370B745-C4A3-C043-8DF4-1880730CAF9C}tf10001119</Template>
  <TotalTime>106</TotalTime>
  <Words>545</Words>
  <Application>Microsoft Macintosh PowerPoint</Application>
  <PresentationFormat>Широкоэкранный</PresentationFormat>
  <Paragraphs>74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system-ui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Юля Садыкова</dc:creator>
  <cp:lastModifiedBy>Юля Садыкова</cp:lastModifiedBy>
  <cp:revision>6</cp:revision>
  <dcterms:created xsi:type="dcterms:W3CDTF">2026-07-05T21:22:37Z</dcterms:created>
  <dcterms:modified xsi:type="dcterms:W3CDTF">2026-07-05T23:20:37Z</dcterms:modified>
</cp:coreProperties>
</file>