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2"/>
    <p:sldId id="257" r:id="rId3"/>
    <p:sldId id="258" r:id="rId4"/>
    <p:sldId id="259" r:id="rId5"/>
    <p:sldId id="260" r:id="rId6"/>
    <p:sldId id="262" r:id="rId7"/>
    <p:sldId id="264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90"/>
  </p:normalViewPr>
  <p:slideViewPr>
    <p:cSldViewPr snapToGrid="0">
      <p:cViewPr varScale="1">
        <p:scale>
          <a:sx n="71" d="100"/>
          <a:sy n="71" d="100"/>
        </p:scale>
        <p:origin x="17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uliasadykova/Desktop/&#1058;&#1047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uliasadykova/Desktop/&#1058;&#1047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uliasadykova/Desktop/&#1058;&#1047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uliasadykova/Desktop/&#1058;&#1047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Динамика роста числа</a:t>
            </a:r>
            <a:r>
              <a:rPr lang="ru-RU" baseline="0" dirty="0"/>
              <a:t> клиентов</a:t>
            </a:r>
            <a:r>
              <a:rPr lang="ru-RU" dirty="0"/>
              <a:t> по категориям 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Первая категория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Лист1!$C$21:$C$27</c:f>
              <c:numCache>
                <c:formatCode>m/d/yy</c:formatCode>
                <c:ptCount val="7"/>
                <c:pt idx="0">
                  <c:v>44592</c:v>
                </c:pt>
                <c:pt idx="1">
                  <c:v>44620</c:v>
                </c:pt>
                <c:pt idx="2">
                  <c:v>44651</c:v>
                </c:pt>
                <c:pt idx="3">
                  <c:v>44681</c:v>
                </c:pt>
                <c:pt idx="4">
                  <c:v>44712</c:v>
                </c:pt>
                <c:pt idx="5">
                  <c:v>44742</c:v>
                </c:pt>
                <c:pt idx="6">
                  <c:v>44773</c:v>
                </c:pt>
              </c:numCache>
            </c:numRef>
          </c:cat>
          <c:val>
            <c:numRef>
              <c:f>Лист1!$D$14:$D$20</c:f>
              <c:numCache>
                <c:formatCode>_-* #\ ##0\ _₽_-;\-* #\ ##0\ _₽_-;_-* "-"??\ _₽_-;_-@_-</c:formatCode>
                <c:ptCount val="7"/>
                <c:pt idx="0">
                  <c:v>184171.1</c:v>
                </c:pt>
                <c:pt idx="1">
                  <c:v>198173.21</c:v>
                </c:pt>
                <c:pt idx="2">
                  <c:v>212175.32</c:v>
                </c:pt>
                <c:pt idx="3">
                  <c:v>226177.43</c:v>
                </c:pt>
                <c:pt idx="4">
                  <c:v>240179.54</c:v>
                </c:pt>
                <c:pt idx="5">
                  <c:v>254181.65</c:v>
                </c:pt>
                <c:pt idx="6">
                  <c:v>268183.760000001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FB7-E845-B6EF-2E1B3628C379}"/>
            </c:ext>
          </c:extLst>
        </c:ser>
        <c:ser>
          <c:idx val="1"/>
          <c:order val="1"/>
          <c:tx>
            <c:v>Вторая категория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Лист1!$C$21:$C$27</c:f>
              <c:numCache>
                <c:formatCode>m/d/yy</c:formatCode>
                <c:ptCount val="7"/>
                <c:pt idx="0">
                  <c:v>44592</c:v>
                </c:pt>
                <c:pt idx="1">
                  <c:v>44620</c:v>
                </c:pt>
                <c:pt idx="2">
                  <c:v>44651</c:v>
                </c:pt>
                <c:pt idx="3">
                  <c:v>44681</c:v>
                </c:pt>
                <c:pt idx="4">
                  <c:v>44712</c:v>
                </c:pt>
                <c:pt idx="5">
                  <c:v>44742</c:v>
                </c:pt>
                <c:pt idx="6">
                  <c:v>44773</c:v>
                </c:pt>
              </c:numCache>
            </c:numRef>
          </c:cat>
          <c:val>
            <c:numRef>
              <c:f>Лист1!$D$21:$D$27</c:f>
              <c:numCache>
                <c:formatCode>_-* #\ ##0\ _₽_-;\-* #\ ##0\ _₽_-;_-* "-"??\ _₽_-;_-@_-</c:formatCode>
                <c:ptCount val="7"/>
                <c:pt idx="0">
                  <c:v>18999.36</c:v>
                </c:pt>
                <c:pt idx="1">
                  <c:v>43464</c:v>
                </c:pt>
                <c:pt idx="2">
                  <c:v>101837.9</c:v>
                </c:pt>
                <c:pt idx="3">
                  <c:v>104092</c:v>
                </c:pt>
                <c:pt idx="4">
                  <c:v>122823.01</c:v>
                </c:pt>
                <c:pt idx="5">
                  <c:v>173302.43</c:v>
                </c:pt>
                <c:pt idx="6">
                  <c:v>187483.1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FB7-E845-B6EF-2E1B3628C3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74477056"/>
        <c:axId val="1774478784"/>
      </c:lineChart>
      <c:dateAx>
        <c:axId val="1774477056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74478784"/>
        <c:crosses val="autoZero"/>
        <c:auto val="1"/>
        <c:lblOffset val="100"/>
        <c:baseTimeUnit val="months"/>
      </c:dateAx>
      <c:valAx>
        <c:axId val="1774478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\ _₽_-;\-* #\ ##0\ _₽_-;_-* &quot;-&quot;??\ _₽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74477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Проникновение продуктов в динамике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Первая категория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Лист1!$C$42:$C$48</c:f>
              <c:numCache>
                <c:formatCode>m/d/yy</c:formatCode>
                <c:ptCount val="7"/>
                <c:pt idx="0">
                  <c:v>44592</c:v>
                </c:pt>
                <c:pt idx="1">
                  <c:v>44620</c:v>
                </c:pt>
                <c:pt idx="2">
                  <c:v>44651</c:v>
                </c:pt>
                <c:pt idx="3">
                  <c:v>44681</c:v>
                </c:pt>
                <c:pt idx="4">
                  <c:v>44712</c:v>
                </c:pt>
                <c:pt idx="5">
                  <c:v>44742</c:v>
                </c:pt>
                <c:pt idx="6">
                  <c:v>44773</c:v>
                </c:pt>
              </c:numCache>
            </c:numRef>
          </c:cat>
          <c:val>
            <c:numRef>
              <c:f>Лист1!$J$14:$J$20</c:f>
              <c:numCache>
                <c:formatCode>0%</c:formatCode>
                <c:ptCount val="7"/>
                <c:pt idx="0">
                  <c:v>0.32432714898209608</c:v>
                </c:pt>
                <c:pt idx="1">
                  <c:v>0.48586635344098555</c:v>
                </c:pt>
                <c:pt idx="2">
                  <c:v>0.52791281552523361</c:v>
                </c:pt>
                <c:pt idx="3">
                  <c:v>0.56042801026288747</c:v>
                </c:pt>
                <c:pt idx="4">
                  <c:v>0.59017030905732537</c:v>
                </c:pt>
                <c:pt idx="5">
                  <c:v>0.58565787063223307</c:v>
                </c:pt>
                <c:pt idx="6">
                  <c:v>0.5816166289656326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B4-2843-BD2A-406472F93566}"/>
            </c:ext>
          </c:extLst>
        </c:ser>
        <c:ser>
          <c:idx val="1"/>
          <c:order val="1"/>
          <c:tx>
            <c:v>Вторая категория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Лист1!$C$42:$C$48</c:f>
              <c:numCache>
                <c:formatCode>m/d/yy</c:formatCode>
                <c:ptCount val="7"/>
                <c:pt idx="0">
                  <c:v>44592</c:v>
                </c:pt>
                <c:pt idx="1">
                  <c:v>44620</c:v>
                </c:pt>
                <c:pt idx="2">
                  <c:v>44651</c:v>
                </c:pt>
                <c:pt idx="3">
                  <c:v>44681</c:v>
                </c:pt>
                <c:pt idx="4">
                  <c:v>44712</c:v>
                </c:pt>
                <c:pt idx="5">
                  <c:v>44742</c:v>
                </c:pt>
                <c:pt idx="6">
                  <c:v>44773</c:v>
                </c:pt>
              </c:numCache>
            </c:numRef>
          </c:cat>
          <c:val>
            <c:numRef>
              <c:f>Лист1!$J$21:$J$27</c:f>
              <c:numCache>
                <c:formatCode>0%</c:formatCode>
                <c:ptCount val="7"/>
                <c:pt idx="0">
                  <c:v>0.22263328870025095</c:v>
                </c:pt>
                <c:pt idx="1">
                  <c:v>0.30243718939812253</c:v>
                </c:pt>
                <c:pt idx="2">
                  <c:v>0.18653291161738411</c:v>
                </c:pt>
                <c:pt idx="3">
                  <c:v>0.20528609307151366</c:v>
                </c:pt>
                <c:pt idx="4">
                  <c:v>0.20167198312433476</c:v>
                </c:pt>
                <c:pt idx="5">
                  <c:v>0.24477596765377155</c:v>
                </c:pt>
                <c:pt idx="6">
                  <c:v>0.27886566842558075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B4-2843-BD2A-406472F935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18767584"/>
        <c:axId val="1811863536"/>
      </c:lineChart>
      <c:catAx>
        <c:axId val="1918767584"/>
        <c:scaling>
          <c:orientation val="minMax"/>
          <c:max val="7"/>
          <c:min val="1"/>
        </c:scaling>
        <c:delete val="0"/>
        <c:axPos val="b"/>
        <c:numFmt formatCode="m/d/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18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11863536"/>
        <c:crosses val="autoZero"/>
        <c:auto val="0"/>
        <c:lblAlgn val="ctr"/>
        <c:lblOffset val="100"/>
        <c:tickLblSkip val="1"/>
        <c:noMultiLvlLbl val="0"/>
      </c:catAx>
      <c:valAx>
        <c:axId val="1811863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18767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Динамика проникновения банковских продуктов </a:t>
            </a:r>
          </a:p>
        </c:rich>
      </c:tx>
      <c:layout>
        <c:manualLayout>
          <c:xMode val="edge"/>
          <c:yMode val="edge"/>
          <c:x val="0.14765567387815959"/>
          <c:y val="2.245880741458958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7.4949414413001098E-2"/>
          <c:y val="0.12086112960966471"/>
          <c:w val="0.90356439980485559"/>
          <c:h val="0.71553759558718288"/>
        </c:manualLayout>
      </c:layout>
      <c:lineChart>
        <c:grouping val="standard"/>
        <c:varyColors val="0"/>
        <c:ser>
          <c:idx val="0"/>
          <c:order val="0"/>
          <c:tx>
            <c:strRef>
              <c:f>Лист1!$D$30</c:f>
              <c:strCache>
                <c:ptCount val="1"/>
                <c:pt idx="0">
                  <c:v>Кредит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Лист1!$C$31:$C$37</c:f>
              <c:numCache>
                <c:formatCode>m/d/yy</c:formatCode>
                <c:ptCount val="7"/>
                <c:pt idx="0">
                  <c:v>44592</c:v>
                </c:pt>
                <c:pt idx="1">
                  <c:v>44620</c:v>
                </c:pt>
                <c:pt idx="2">
                  <c:v>44651</c:v>
                </c:pt>
                <c:pt idx="3">
                  <c:v>44681</c:v>
                </c:pt>
                <c:pt idx="4">
                  <c:v>44712</c:v>
                </c:pt>
                <c:pt idx="5">
                  <c:v>44742</c:v>
                </c:pt>
                <c:pt idx="6">
                  <c:v>44773</c:v>
                </c:pt>
              </c:numCache>
            </c:numRef>
          </c:cat>
          <c:val>
            <c:numRef>
              <c:f>Лист1!$D$31:$D$37</c:f>
              <c:numCache>
                <c:formatCode>0.0%</c:formatCode>
                <c:ptCount val="7"/>
                <c:pt idx="0">
                  <c:v>0.10362786095569361</c:v>
                </c:pt>
                <c:pt idx="1">
                  <c:v>0.16440191506256285</c:v>
                </c:pt>
                <c:pt idx="2">
                  <c:v>0.16048104979994038</c:v>
                </c:pt>
                <c:pt idx="3">
                  <c:v>0.15704564753601252</c:v>
                </c:pt>
                <c:pt idx="4">
                  <c:v>0.15401080295817038</c:v>
                </c:pt>
                <c:pt idx="5">
                  <c:v>0.15131031947690504</c:v>
                </c:pt>
                <c:pt idx="6">
                  <c:v>0.14889182523136213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75F-2A42-822D-43F12AD2DC8A}"/>
            </c:ext>
          </c:extLst>
        </c:ser>
        <c:ser>
          <c:idx val="1"/>
          <c:order val="1"/>
          <c:tx>
            <c:strRef>
              <c:f>Лист1!$E$30</c:f>
              <c:strCache>
                <c:ptCount val="1"/>
                <c:pt idx="0">
                  <c:v>Лизинг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Лист1!$C$31:$C$37</c:f>
              <c:numCache>
                <c:formatCode>m/d/yy</c:formatCode>
                <c:ptCount val="7"/>
                <c:pt idx="0">
                  <c:v>44592</c:v>
                </c:pt>
                <c:pt idx="1">
                  <c:v>44620</c:v>
                </c:pt>
                <c:pt idx="2">
                  <c:v>44651</c:v>
                </c:pt>
                <c:pt idx="3">
                  <c:v>44681</c:v>
                </c:pt>
                <c:pt idx="4">
                  <c:v>44712</c:v>
                </c:pt>
                <c:pt idx="5">
                  <c:v>44742</c:v>
                </c:pt>
                <c:pt idx="6">
                  <c:v>44773</c:v>
                </c:pt>
              </c:numCache>
            </c:numRef>
          </c:cat>
          <c:val>
            <c:numRef>
              <c:f>Лист1!$E$31:$E$37</c:f>
              <c:numCache>
                <c:formatCode>0.0%</c:formatCode>
                <c:ptCount val="7"/>
                <c:pt idx="0">
                  <c:v>5.0274500179452696E-2</c:v>
                </c:pt>
                <c:pt idx="1">
                  <c:v>5.0652255166074169E-2</c:v>
                </c:pt>
                <c:pt idx="2">
                  <c:v>6.2739530686226841E-2</c:v>
                </c:pt>
                <c:pt idx="3">
                  <c:v>6.5975961144015563E-2</c:v>
                </c:pt>
                <c:pt idx="4">
                  <c:v>7.0566411832303874E-2</c:v>
                </c:pt>
                <c:pt idx="5">
                  <c:v>7.4651114009737923E-2</c:v>
                </c:pt>
                <c:pt idx="6">
                  <c:v>7.8309284400118861E-2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75F-2A42-822D-43F12AD2DC8A}"/>
            </c:ext>
          </c:extLst>
        </c:ser>
        <c:ser>
          <c:idx val="2"/>
          <c:order val="2"/>
          <c:tx>
            <c:strRef>
              <c:f>Лист1!$F$30</c:f>
              <c:strCache>
                <c:ptCount val="1"/>
                <c:pt idx="0">
                  <c:v>Гарантии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75000"/>
                </a:schemeClr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Лист1!$C$31:$C$37</c:f>
              <c:numCache>
                <c:formatCode>m/d/yy</c:formatCode>
                <c:ptCount val="7"/>
                <c:pt idx="0">
                  <c:v>44592</c:v>
                </c:pt>
                <c:pt idx="1">
                  <c:v>44620</c:v>
                </c:pt>
                <c:pt idx="2">
                  <c:v>44651</c:v>
                </c:pt>
                <c:pt idx="3">
                  <c:v>44681</c:v>
                </c:pt>
                <c:pt idx="4">
                  <c:v>44712</c:v>
                </c:pt>
                <c:pt idx="5">
                  <c:v>44742</c:v>
                </c:pt>
                <c:pt idx="6">
                  <c:v>44773</c:v>
                </c:pt>
              </c:numCache>
            </c:numRef>
          </c:cat>
          <c:val>
            <c:numRef>
              <c:f>Лист1!$F$31:$F$37</c:f>
              <c:numCache>
                <c:formatCode>0.0%</c:formatCode>
                <c:ptCount val="7"/>
                <c:pt idx="0">
                  <c:v>4.5437291735782641E-2</c:v>
                </c:pt>
                <c:pt idx="1">
                  <c:v>4.8667207843078285E-2</c:v>
                </c:pt>
                <c:pt idx="2">
                  <c:v>4.790956082922368E-2</c:v>
                </c:pt>
                <c:pt idx="3">
                  <c:v>4.9472915135696786E-2</c:v>
                </c:pt>
                <c:pt idx="4">
                  <c:v>5.0329649228239834E-2</c:v>
                </c:pt>
                <c:pt idx="5">
                  <c:v>5.1091993462155892E-2</c:v>
                </c:pt>
                <c:pt idx="6">
                  <c:v>5.1774732370073219E-2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75F-2A42-822D-43F12AD2DC8A}"/>
            </c:ext>
          </c:extLst>
        </c:ser>
        <c:ser>
          <c:idx val="3"/>
          <c:order val="3"/>
          <c:tx>
            <c:strRef>
              <c:f>Лист1!$G$30</c:f>
              <c:strCache>
                <c:ptCount val="1"/>
                <c:pt idx="0">
                  <c:v>ЗПП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Лист1!$C$31:$C$37</c:f>
              <c:numCache>
                <c:formatCode>m/d/yy</c:formatCode>
                <c:ptCount val="7"/>
                <c:pt idx="0">
                  <c:v>44592</c:v>
                </c:pt>
                <c:pt idx="1">
                  <c:v>44620</c:v>
                </c:pt>
                <c:pt idx="2">
                  <c:v>44651</c:v>
                </c:pt>
                <c:pt idx="3">
                  <c:v>44681</c:v>
                </c:pt>
                <c:pt idx="4">
                  <c:v>44712</c:v>
                </c:pt>
                <c:pt idx="5">
                  <c:v>44742</c:v>
                </c:pt>
                <c:pt idx="6">
                  <c:v>44773</c:v>
                </c:pt>
              </c:numCache>
            </c:numRef>
          </c:cat>
          <c:val>
            <c:numRef>
              <c:f>Лист1!$G$31:$G$37</c:f>
              <c:numCache>
                <c:formatCode>0.0%</c:formatCode>
                <c:ptCount val="7"/>
                <c:pt idx="0">
                  <c:v>1.6357425024881751E-2</c:v>
                </c:pt>
                <c:pt idx="1">
                  <c:v>1.7520194823508181E-2</c:v>
                </c:pt>
                <c:pt idx="2">
                  <c:v>1.7247441898520524E-2</c:v>
                </c:pt>
                <c:pt idx="3">
                  <c:v>1.7810249448850842E-2</c:v>
                </c:pt>
                <c:pt idx="4">
                  <c:v>1.8118673722166339E-2</c:v>
                </c:pt>
                <c:pt idx="5">
                  <c:v>1.8393117646376123E-2</c:v>
                </c:pt>
                <c:pt idx="6">
                  <c:v>1.8638903653226357E-2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75F-2A42-822D-43F12AD2DC8A}"/>
            </c:ext>
          </c:extLst>
        </c:ser>
        <c:ser>
          <c:idx val="4"/>
          <c:order val="4"/>
          <c:tx>
            <c:strRef>
              <c:f>Лист1!$H$30</c:f>
              <c:strCache>
                <c:ptCount val="1"/>
                <c:pt idx="0">
                  <c:v>Эквайринг</c:v>
                </c:pt>
              </c:strCache>
            </c:strRef>
          </c:tx>
          <c:spPr>
            <a:ln w="28575" cap="rnd">
              <a:solidFill>
                <a:schemeClr val="tx1">
                  <a:lumMod val="95000"/>
                  <a:lumOff val="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Лист1!$C$31:$C$37</c:f>
              <c:numCache>
                <c:formatCode>m/d/yy</c:formatCode>
                <c:ptCount val="7"/>
                <c:pt idx="0">
                  <c:v>44592</c:v>
                </c:pt>
                <c:pt idx="1">
                  <c:v>44620</c:v>
                </c:pt>
                <c:pt idx="2">
                  <c:v>44651</c:v>
                </c:pt>
                <c:pt idx="3">
                  <c:v>44681</c:v>
                </c:pt>
                <c:pt idx="4">
                  <c:v>44712</c:v>
                </c:pt>
                <c:pt idx="5">
                  <c:v>44742</c:v>
                </c:pt>
                <c:pt idx="6">
                  <c:v>44773</c:v>
                </c:pt>
              </c:numCache>
            </c:numRef>
          </c:cat>
          <c:val>
            <c:numRef>
              <c:f>Лист1!$H$31:$H$37</c:f>
              <c:numCache>
                <c:formatCode>0.0%</c:formatCode>
                <c:ptCount val="7"/>
                <c:pt idx="0">
                  <c:v>0.10863007108628536</c:v>
                </c:pt>
                <c:pt idx="1">
                  <c:v>0.20462478054576203</c:v>
                </c:pt>
                <c:pt idx="2">
                  <c:v>0.23953523231132223</c:v>
                </c:pt>
                <c:pt idx="3">
                  <c:v>0.2701232369983117</c:v>
                </c:pt>
                <c:pt idx="4">
                  <c:v>0.29714477131644507</c:v>
                </c:pt>
                <c:pt idx="5">
                  <c:v>0.29021132603705818</c:v>
                </c:pt>
                <c:pt idx="6">
                  <c:v>0.28400188331085208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75F-2A42-822D-43F12AD2DC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1050895"/>
        <c:axId val="301269375"/>
      </c:lineChart>
      <c:catAx>
        <c:axId val="301050895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18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01269375"/>
        <c:crosses val="autoZero"/>
        <c:auto val="0"/>
        <c:lblAlgn val="ctr"/>
        <c:lblOffset val="100"/>
        <c:noMultiLvlLbl val="0"/>
      </c:catAx>
      <c:valAx>
        <c:axId val="301269375"/>
        <c:scaling>
          <c:orientation val="minMax"/>
          <c:max val="0.3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01050895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2240705765053027"/>
          <c:y val="0.93253698897717852"/>
          <c:w val="0.75518588469893944"/>
          <c:h val="6.746301102282144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baseline="0" dirty="0">
                <a:effectLst/>
              </a:rPr>
              <a:t>Динамика проникновения </a:t>
            </a:r>
            <a:r>
              <a:rPr lang="ru-RU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</a:rPr>
              <a:t>банковских</a:t>
            </a:r>
            <a:r>
              <a:rPr lang="ru-RU" sz="1400" b="0" i="0" u="none" strike="noStrike" baseline="0" dirty="0">
                <a:effectLst/>
              </a:rPr>
              <a:t> продуктов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Лист1!$D$30</c:f>
              <c:strCache>
                <c:ptCount val="1"/>
                <c:pt idx="0">
                  <c:v>Кредит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Лист1!$C$42:$C$48</c:f>
              <c:numCache>
                <c:formatCode>m/d/yy</c:formatCode>
                <c:ptCount val="7"/>
                <c:pt idx="0">
                  <c:v>44592</c:v>
                </c:pt>
                <c:pt idx="1">
                  <c:v>44620</c:v>
                </c:pt>
                <c:pt idx="2">
                  <c:v>44651</c:v>
                </c:pt>
                <c:pt idx="3">
                  <c:v>44681</c:v>
                </c:pt>
                <c:pt idx="4">
                  <c:v>44712</c:v>
                </c:pt>
                <c:pt idx="5">
                  <c:v>44742</c:v>
                </c:pt>
                <c:pt idx="6">
                  <c:v>44773</c:v>
                </c:pt>
              </c:numCache>
            </c:numRef>
          </c:cat>
          <c:val>
            <c:numRef>
              <c:f>Лист1!$D$42:$D$48</c:f>
              <c:numCache>
                <c:formatCode>0.0%</c:formatCode>
                <c:ptCount val="7"/>
                <c:pt idx="0">
                  <c:v>7.440250618968218E-2</c:v>
                </c:pt>
                <c:pt idx="1">
                  <c:v>9.0347874102705686E-2</c:v>
                </c:pt>
                <c:pt idx="2">
                  <c:v>6.7002952731743295E-2</c:v>
                </c:pt>
                <c:pt idx="3">
                  <c:v>7.2600391960957619E-2</c:v>
                </c:pt>
                <c:pt idx="4">
                  <c:v>6.7791857568056668E-2</c:v>
                </c:pt>
                <c:pt idx="5">
                  <c:v>8.6392787452547554E-2</c:v>
                </c:pt>
                <c:pt idx="6">
                  <c:v>9.2780202588926691E-2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6F-8945-8EB1-E0FE5CB84B97}"/>
            </c:ext>
          </c:extLst>
        </c:ser>
        <c:ser>
          <c:idx val="1"/>
          <c:order val="1"/>
          <c:tx>
            <c:strRef>
              <c:f>Лист1!$E$30</c:f>
              <c:strCache>
                <c:ptCount val="1"/>
                <c:pt idx="0">
                  <c:v>Лизинг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Лист1!$C$42:$C$48</c:f>
              <c:numCache>
                <c:formatCode>m/d/yy</c:formatCode>
                <c:ptCount val="7"/>
                <c:pt idx="0">
                  <c:v>44592</c:v>
                </c:pt>
                <c:pt idx="1">
                  <c:v>44620</c:v>
                </c:pt>
                <c:pt idx="2">
                  <c:v>44651</c:v>
                </c:pt>
                <c:pt idx="3">
                  <c:v>44681</c:v>
                </c:pt>
                <c:pt idx="4">
                  <c:v>44712</c:v>
                </c:pt>
                <c:pt idx="5">
                  <c:v>44742</c:v>
                </c:pt>
                <c:pt idx="6">
                  <c:v>44773</c:v>
                </c:pt>
              </c:numCache>
            </c:numRef>
          </c:cat>
          <c:val>
            <c:numRef>
              <c:f>Лист1!$E$42:$E$48</c:f>
              <c:numCache>
                <c:formatCode>0.0%</c:formatCode>
                <c:ptCount val="7"/>
                <c:pt idx="0">
                  <c:v>6.0528354639314159E-5</c:v>
                </c:pt>
                <c:pt idx="1">
                  <c:v>6.7297073440088348E-4</c:v>
                </c:pt>
                <c:pt idx="2">
                  <c:v>3.6921421199769439E-4</c:v>
                </c:pt>
                <c:pt idx="3">
                  <c:v>6.6172232256081151E-4</c:v>
                </c:pt>
                <c:pt idx="4">
                  <c:v>9.8678578224064054E-4</c:v>
                </c:pt>
                <c:pt idx="5">
                  <c:v>9.6230618347359592E-4</c:v>
                </c:pt>
                <c:pt idx="6">
                  <c:v>1.2433120638606894E-3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6F-8945-8EB1-E0FE5CB84B97}"/>
            </c:ext>
          </c:extLst>
        </c:ser>
        <c:ser>
          <c:idx val="2"/>
          <c:order val="2"/>
          <c:tx>
            <c:strRef>
              <c:f>Лист1!$F$30</c:f>
              <c:strCache>
                <c:ptCount val="1"/>
                <c:pt idx="0">
                  <c:v>Гарантии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75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  <a:effectLst/>
            </c:spPr>
          </c:marker>
          <c:cat>
            <c:numRef>
              <c:f>Лист1!$C$42:$C$48</c:f>
              <c:numCache>
                <c:formatCode>m/d/yy</c:formatCode>
                <c:ptCount val="7"/>
                <c:pt idx="0">
                  <c:v>44592</c:v>
                </c:pt>
                <c:pt idx="1">
                  <c:v>44620</c:v>
                </c:pt>
                <c:pt idx="2">
                  <c:v>44651</c:v>
                </c:pt>
                <c:pt idx="3">
                  <c:v>44681</c:v>
                </c:pt>
                <c:pt idx="4">
                  <c:v>44712</c:v>
                </c:pt>
                <c:pt idx="5">
                  <c:v>44742</c:v>
                </c:pt>
                <c:pt idx="6">
                  <c:v>44773</c:v>
                </c:pt>
              </c:numCache>
            </c:numRef>
          </c:cat>
          <c:val>
            <c:numRef>
              <c:f>Лист1!$F$42:$F$48</c:f>
              <c:numCache>
                <c:formatCode>0.0%</c:formatCode>
                <c:ptCount val="7"/>
                <c:pt idx="0">
                  <c:v>9.3003132737102725E-3</c:v>
                </c:pt>
                <c:pt idx="1">
                  <c:v>1.1293484262838211E-2</c:v>
                </c:pt>
                <c:pt idx="2">
                  <c:v>8.3753690914679119E-3</c:v>
                </c:pt>
                <c:pt idx="3">
                  <c:v>9.0750489951197024E-3</c:v>
                </c:pt>
                <c:pt idx="4">
                  <c:v>8.4739821960070835E-3</c:v>
                </c:pt>
                <c:pt idx="5">
                  <c:v>1.0799098431568444E-2</c:v>
                </c:pt>
                <c:pt idx="6">
                  <c:v>1.1597525323615836E-2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C6F-8945-8EB1-E0FE5CB84B97}"/>
            </c:ext>
          </c:extLst>
        </c:ser>
        <c:ser>
          <c:idx val="3"/>
          <c:order val="3"/>
          <c:tx>
            <c:strRef>
              <c:f>Лист1!$G$30</c:f>
              <c:strCache>
                <c:ptCount val="1"/>
                <c:pt idx="0">
                  <c:v>ЗПП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Лист1!$C$42:$C$48</c:f>
              <c:numCache>
                <c:formatCode>m/d/yy</c:formatCode>
                <c:ptCount val="7"/>
                <c:pt idx="0">
                  <c:v>44592</c:v>
                </c:pt>
                <c:pt idx="1">
                  <c:v>44620</c:v>
                </c:pt>
                <c:pt idx="2">
                  <c:v>44651</c:v>
                </c:pt>
                <c:pt idx="3">
                  <c:v>44681</c:v>
                </c:pt>
                <c:pt idx="4">
                  <c:v>44712</c:v>
                </c:pt>
                <c:pt idx="5">
                  <c:v>44742</c:v>
                </c:pt>
                <c:pt idx="6">
                  <c:v>44773</c:v>
                </c:pt>
              </c:numCache>
            </c:numRef>
          </c:cat>
          <c:val>
            <c:numRef>
              <c:f>Лист1!$G$42:$G$48</c:f>
              <c:numCache>
                <c:formatCode>0.0%</c:formatCode>
                <c:ptCount val="7"/>
                <c:pt idx="0">
                  <c:v>7.516042645647011E-4</c:v>
                </c:pt>
                <c:pt idx="1">
                  <c:v>7.8317688201730165E-4</c:v>
                </c:pt>
                <c:pt idx="2">
                  <c:v>6.842246354255146E-4</c:v>
                </c:pt>
                <c:pt idx="3">
                  <c:v>8.0928409483918085E-4</c:v>
                </c:pt>
                <c:pt idx="4">
                  <c:v>1.0289602900954797E-3</c:v>
                </c:pt>
                <c:pt idx="5">
                  <c:v>1.1309708698256568E-3</c:v>
                </c:pt>
                <c:pt idx="6">
                  <c:v>1.1196742533060313E-3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C6F-8945-8EB1-E0FE5CB84B97}"/>
            </c:ext>
          </c:extLst>
        </c:ser>
        <c:ser>
          <c:idx val="4"/>
          <c:order val="4"/>
          <c:tx>
            <c:strRef>
              <c:f>Лист1!$H$30</c:f>
              <c:strCache>
                <c:ptCount val="1"/>
                <c:pt idx="0">
                  <c:v>Эквайринг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Лист1!$C$42:$C$48</c:f>
              <c:numCache>
                <c:formatCode>m/d/yy</c:formatCode>
                <c:ptCount val="7"/>
                <c:pt idx="0">
                  <c:v>44592</c:v>
                </c:pt>
                <c:pt idx="1">
                  <c:v>44620</c:v>
                </c:pt>
                <c:pt idx="2">
                  <c:v>44651</c:v>
                </c:pt>
                <c:pt idx="3">
                  <c:v>44681</c:v>
                </c:pt>
                <c:pt idx="4">
                  <c:v>44712</c:v>
                </c:pt>
                <c:pt idx="5">
                  <c:v>44742</c:v>
                </c:pt>
                <c:pt idx="6">
                  <c:v>44773</c:v>
                </c:pt>
              </c:numCache>
            </c:numRef>
          </c:cat>
          <c:val>
            <c:numRef>
              <c:f>Лист1!$H$42:$H$48</c:f>
              <c:numCache>
                <c:formatCode>0.0%</c:formatCode>
                <c:ptCount val="7"/>
                <c:pt idx="0">
                  <c:v>0.13811833661765449</c:v>
                </c:pt>
                <c:pt idx="1">
                  <c:v>0.19933968341616046</c:v>
                </c:pt>
                <c:pt idx="2">
                  <c:v>0.11010115094674969</c:v>
                </c:pt>
                <c:pt idx="3">
                  <c:v>0.12213964569803636</c:v>
                </c:pt>
                <c:pt idx="4">
                  <c:v>0.1233903972879349</c:v>
                </c:pt>
                <c:pt idx="5">
                  <c:v>0.14549080471635625</c:v>
                </c:pt>
                <c:pt idx="6">
                  <c:v>0.17212495419587151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C6F-8945-8EB1-E0FE5CB84B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1050895"/>
        <c:axId val="301269375"/>
      </c:lineChart>
      <c:catAx>
        <c:axId val="301050895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18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01269375"/>
        <c:crosses val="autoZero"/>
        <c:auto val="0"/>
        <c:lblAlgn val="ctr"/>
        <c:lblOffset val="100"/>
        <c:noMultiLvlLbl val="0"/>
      </c:catAx>
      <c:valAx>
        <c:axId val="301269375"/>
        <c:scaling>
          <c:orientation val="minMax"/>
          <c:max val="0.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010508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Различия между категориями клиентов и между продуктами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1992910267781937"/>
          <c:y val="0.24615740740740741"/>
          <c:w val="0.84914684365466986"/>
          <c:h val="0.540601122776319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Лист1!$C$74</c:f>
              <c:strCache>
                <c:ptCount val="1"/>
                <c:pt idx="0">
                  <c:v>Первая категория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Лист1!$B$75:$B$79</c:f>
              <c:strCache>
                <c:ptCount val="5"/>
                <c:pt idx="0">
                  <c:v>Эквайринг</c:v>
                </c:pt>
                <c:pt idx="1">
                  <c:v>Кредит</c:v>
                </c:pt>
                <c:pt idx="2">
                  <c:v>Лизинг</c:v>
                </c:pt>
                <c:pt idx="3">
                  <c:v>Гарантии</c:v>
                </c:pt>
                <c:pt idx="4">
                  <c:v>ЗПП</c:v>
                </c:pt>
              </c:strCache>
            </c:strRef>
          </c:cat>
          <c:val>
            <c:numRef>
              <c:f>Лист1!$C$75:$C$79</c:f>
              <c:numCache>
                <c:formatCode>0.0%</c:formatCode>
                <c:ptCount val="5"/>
                <c:pt idx="0">
                  <c:v>0.28400188331085208</c:v>
                </c:pt>
                <c:pt idx="1">
                  <c:v>0.14889182523136213</c:v>
                </c:pt>
                <c:pt idx="2">
                  <c:v>7.8309284400118861E-2</c:v>
                </c:pt>
                <c:pt idx="3">
                  <c:v>5.1774732370073219E-2</c:v>
                </c:pt>
                <c:pt idx="4">
                  <c:v>1.8638903653226357E-2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AA-2F44-91A8-6A9766D1071F}"/>
            </c:ext>
          </c:extLst>
        </c:ser>
        <c:ser>
          <c:idx val="1"/>
          <c:order val="1"/>
          <c:tx>
            <c:strRef>
              <c:f>Лист1!$D$74</c:f>
              <c:strCache>
                <c:ptCount val="1"/>
                <c:pt idx="0">
                  <c:v>Вторая категория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Лист1!$B$75:$B$79</c:f>
              <c:strCache>
                <c:ptCount val="5"/>
                <c:pt idx="0">
                  <c:v>Эквайринг</c:v>
                </c:pt>
                <c:pt idx="1">
                  <c:v>Кредит</c:v>
                </c:pt>
                <c:pt idx="2">
                  <c:v>Лизинг</c:v>
                </c:pt>
                <c:pt idx="3">
                  <c:v>Гарантии</c:v>
                </c:pt>
                <c:pt idx="4">
                  <c:v>ЗПП</c:v>
                </c:pt>
              </c:strCache>
            </c:strRef>
          </c:cat>
          <c:val>
            <c:numRef>
              <c:f>Лист1!$D$75:$D$79</c:f>
              <c:numCache>
                <c:formatCode>0.0%</c:formatCode>
                <c:ptCount val="5"/>
                <c:pt idx="0">
                  <c:v>0.17212495419587151</c:v>
                </c:pt>
                <c:pt idx="1">
                  <c:v>9.2780202588926691E-2</c:v>
                </c:pt>
                <c:pt idx="2">
                  <c:v>1.2433120638606894E-3</c:v>
                </c:pt>
                <c:pt idx="3">
                  <c:v>1.1597525323615836E-2</c:v>
                </c:pt>
                <c:pt idx="4">
                  <c:v>1.1196742533060313E-3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AA-2F44-91A8-6A9766D107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05397135"/>
        <c:axId val="638287007"/>
      </c:barChart>
      <c:catAx>
        <c:axId val="805397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38287007"/>
        <c:crosses val="autoZero"/>
        <c:auto val="1"/>
        <c:lblAlgn val="ctr"/>
        <c:lblOffset val="100"/>
        <c:noMultiLvlLbl val="0"/>
      </c:catAx>
      <c:valAx>
        <c:axId val="6382870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Процентр проникновения</a:t>
                </a:r>
              </a:p>
            </c:rich>
          </c:tx>
          <c:layout>
            <c:manualLayout>
              <c:xMode val="edge"/>
              <c:yMode val="edge"/>
              <c:x val="7.4959225182013212E-4"/>
              <c:y val="0.802283993621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053971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739947736797219"/>
          <c:y val="0.88140145327550257"/>
          <c:w val="0.57476438566843313"/>
          <c:h val="7.99043469050734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AAC56-6C39-8945-A156-3D4EDA7091A9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E1428-BFFC-3643-8CF5-8D5D3C1A7F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0640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E1428-BFFC-3643-8CF5-8D5D3C1A7FA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2190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E1428-BFFC-3643-8CF5-8D5D3C1A7FA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333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41E70-CB70-3686-A64B-C5DFAFAD6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FE4B12F-4F5B-092C-3CD7-A45651492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C60355-C7BE-DEA9-BD71-692B80D14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1AF55-91E3-A549-938B-6B43386526C4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9DE75F-37D3-6991-D7D5-8EE8B2348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C6235D-8B55-4EB1-8C11-990EFA2A2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EF76-375D-C849-863E-43F76959C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5743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B97596-DDC5-E8BE-284A-23A051B68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364750-43DD-3CFE-186D-2FC20D929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717595-3046-5A9A-44EA-10C547F3A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1AF55-91E3-A549-938B-6B43386526C4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B7E28B-D1F9-EC93-FF75-7AD088341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7955F7-3BF9-C1D8-6752-9E1FA808A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EF76-375D-C849-863E-43F76959C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7573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34210A-B86D-AD3A-0A39-A9C0461BF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D7EC63-9D0F-85DE-B594-2379F3E9D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BB1F96-EA06-6B12-4493-5E66D021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1AF55-91E3-A549-938B-6B43386526C4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1CF1CD-8EEA-7096-D992-0030B70D1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CEE8EE-BF67-2480-BB28-9C2FD369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EF76-375D-C849-863E-43F76959C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310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6D4A0E-0C7D-FCFA-F029-6C2CD571C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EF79C7-7B67-C07D-E57A-4DD6D55E69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94CF7C-4E30-0924-BD3D-687970D44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354F18-1D85-7EB3-3B20-70F1B80D4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1AF55-91E3-A549-938B-6B43386526C4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0CB910-187D-B681-A97C-CA82F1DBC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3B1488-3C0B-3B79-29FF-A0DA2240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EF76-375D-C849-863E-43F76959C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6052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16E536-2B4A-3CBD-412E-79DB4E086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98C0D5-612B-EB50-DB90-6C56F3731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67F124E-A78C-79DF-AFAA-F51119F42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D16085C-8A8C-5CEE-F75E-C9ADC45E2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D3AE55A-17DF-F712-4AC6-198ECD3F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AB5450F-89F2-3354-21C7-8AC99992F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1AF55-91E3-A549-938B-6B43386526C4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95C351-16B4-34CD-F90E-19C47CC55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BE00DC4-0B27-B2F1-7510-0BCC212F4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EF76-375D-C849-863E-43F76959C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928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2FF1E7-3126-4E02-26FC-AA2CF5EE0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C395983-7A77-4970-065D-196D50610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1AF55-91E3-A549-938B-6B43386526C4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C8E2120-F668-49A4-2452-5086875F6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C229BAA-0B82-6A64-4B25-0B0613EE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EF76-375D-C849-863E-43F76959C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529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461355B-96F5-0E7B-DD1B-41EE07AC9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1AF55-91E3-A549-938B-6B43386526C4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B2227C5-E912-7744-E6EC-5E1E866A2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C0E61A2-825E-8E2F-7297-DE7A43AD1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EF76-375D-C849-863E-43F76959C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7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1756D3-F62F-DA64-61F5-8BB6B4807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79C06A-8AB3-D9D7-4BC8-A0DAB860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1EED16-35AC-7E01-1288-B7ED2AFC5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90155B-CB3B-4C4F-B306-E2A45701F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1AF55-91E3-A549-938B-6B43386526C4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DFFC0F-7C99-F9F5-BD63-3E975ECEB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9B39F0-3C4F-3F3E-EC28-DB835CEDD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EF76-375D-C849-863E-43F76959C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658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E78BEF-ED7F-E003-CDE7-8FBC6B17D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4B5951B-BBE7-AF06-5F38-057B5631E9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5638-E0AB-5913-0CF8-FE608D335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011A5D-5CEE-7CF2-9FCF-2BF98385D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1AF55-91E3-A549-938B-6B43386526C4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32CBCD-4D6E-4134-8392-F7ECA35BF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BA74CD-5A68-8D23-9648-68A7E375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EF76-375D-C849-863E-43F76959C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6298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9FF43A-251A-ECD9-FFFA-338FF97AE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A1CF6F-86DE-BA37-F255-DC746CB93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66C348-E290-7BCC-9AB8-FC87AD2CA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1AF55-91E3-A549-938B-6B43386526C4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0DF685-9D3F-5ED8-40F3-76D9CB116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99EE88-3F55-1301-C3DA-66A14DE70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EF76-375D-C849-863E-43F76959C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220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A3D80EC-D22E-10F5-AA92-3822B19FD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4610F90-AC56-7EB9-A276-FB012E044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0314D7-07C6-DCD8-2E10-3B58716D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1AF55-91E3-A549-938B-6B43386526C4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5C8848-260B-B990-73B7-4C8322269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A69176-ECE5-AC3D-14C2-DFB6F730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EF76-375D-C849-863E-43F76959C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2072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4F6321-A0F1-5171-D8D7-DC0068E72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481046-AAAA-75A8-6225-26CDB9F7F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EEAE15-545F-2300-FE87-A940000C19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1AF55-91E3-A549-938B-6B43386526C4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77CC3E-F059-BB0D-6E38-6B0B004E9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3FBEA3-6D90-4CD1-E3F4-A8C309A62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8EF76-375D-C849-863E-43F76959C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108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1582C6-AF11-7507-AA97-A00D5D33E5D5}"/>
              </a:ext>
            </a:extLst>
          </p:cNvPr>
          <p:cNvSpPr txBox="1"/>
          <p:nvPr/>
        </p:nvSpPr>
        <p:spPr>
          <a:xfrm>
            <a:off x="2141348" y="92516"/>
            <a:ext cx="79093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Анализ проникновения продуктов Альфа-Банка</a:t>
            </a:r>
          </a:p>
          <a:p>
            <a:pPr algn="ctr"/>
            <a:r>
              <a:rPr lang="ru-RU" sz="2800" dirty="0"/>
              <a:t>Январь-Июль 2022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81C773-6AA0-73A9-8355-B6E573D2D741}"/>
              </a:ext>
            </a:extLst>
          </p:cNvPr>
          <p:cNvSpPr txBox="1"/>
          <p:nvPr/>
        </p:nvSpPr>
        <p:spPr>
          <a:xfrm>
            <a:off x="671014" y="1046623"/>
            <a:ext cx="1084997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600" b="1" dirty="0"/>
              <a:t>Цель анализа: </a:t>
            </a:r>
            <a:r>
              <a:rPr lang="ru-RU" sz="1600" dirty="0"/>
              <a:t>оценка динамики численности клиентов и уровня проникновения продуктов в двух категориях клиентов, а также выявление потенциальных точек роста продуктового портфеля.</a:t>
            </a:r>
            <a:endParaRPr lang="ru-RU" sz="1600" b="1" dirty="0"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1600" b="1" dirty="0">
                <a:cs typeface="Times New Roman" panose="02020603050405020304" pitchFamily="18" charset="0"/>
              </a:rPr>
              <a:t>Ключевые выводы: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cs typeface="Times New Roman" panose="02020603050405020304" pitchFamily="18" charset="0"/>
              </a:rPr>
              <a:t>На протяжении анализируемого периода количество клиентов увеличивается в обеих категориях. Первая категория сохраняет больший объем клиентов, в то время как вторая категория демонстрирует высокую скорость роста (+887% клиентов).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В обеих категориях наблюдается рост общего проникновения банковских продуктов.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Первая категория демонстрирует более высокий уровень проникновения продуктов на протяжении всего анализируемого периода.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Эквайринг является наиболее востребованным продуктом в двух категориях.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Лизинг, гарантии и зарплатный проект демонстрируют значительно более низкое проникновение по сравнению с кредитом и эквайрингом.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Договор эквайринга имеет наибольший разрыв между категориями (11,2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п.п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.), однако в относительном выражении лизинг отличается в 78 раз (7,8% против 0,1%), что указывает на сильное отставание во второй выборке.</a:t>
            </a:r>
            <a:endParaRPr lang="ru-RU" sz="1600" dirty="0"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600" dirty="0"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2BCD6A1-94B8-0430-01D7-D7B93AB704A2}"/>
              </a:ext>
            </a:extLst>
          </p:cNvPr>
          <p:cNvSpPr/>
          <p:nvPr/>
        </p:nvSpPr>
        <p:spPr>
          <a:xfrm>
            <a:off x="-1" y="0"/>
            <a:ext cx="12192000" cy="925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4E1247C-C262-8673-A7B8-397795AB91D3}"/>
              </a:ext>
            </a:extLst>
          </p:cNvPr>
          <p:cNvSpPr/>
          <p:nvPr/>
        </p:nvSpPr>
        <p:spPr>
          <a:xfrm>
            <a:off x="0" y="6386733"/>
            <a:ext cx="12192000" cy="4712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6061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851373-40E1-215A-503E-9CB5C2CBE1D6}"/>
              </a:ext>
            </a:extLst>
          </p:cNvPr>
          <p:cNvSpPr txBox="1"/>
          <p:nvPr/>
        </p:nvSpPr>
        <p:spPr>
          <a:xfrm>
            <a:off x="1845632" y="474346"/>
            <a:ext cx="85007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Линейный рост числа клиентов в обеих когортах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A94AA-80B4-62F8-8F1A-F6F2955FC48E}"/>
              </a:ext>
            </a:extLst>
          </p:cNvPr>
          <p:cNvSpPr txBox="1"/>
          <p:nvPr/>
        </p:nvSpPr>
        <p:spPr>
          <a:xfrm>
            <a:off x="6985416" y="1516483"/>
            <a:ext cx="444458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Выводы:</a:t>
            </a:r>
          </a:p>
          <a:p>
            <a:pPr algn="just"/>
            <a:endParaRPr lang="ru-RU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В первой выборке наблюдается линейный рост с постоянной скоростью в течение всего периода.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Во второй выборке линейный рост происходит с разной скоростью в каждом месяце, в среднем демонстрируя более высокую скорость в течение полугода по сравнению с первой категорией.</a:t>
            </a:r>
          </a:p>
          <a:p>
            <a:pPr algn="just"/>
            <a:endParaRPr lang="ru-RU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Первая категория остается крупнейшей по числу клиентов.</a:t>
            </a:r>
          </a:p>
          <a:p>
            <a:pPr algn="just"/>
            <a:endParaRPr lang="ru-RU" dirty="0"/>
          </a:p>
          <a:p>
            <a:pPr algn="just"/>
            <a:endParaRPr lang="ru-RU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128AA43B-DCF9-AFD1-C5BD-9B75F520AE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5341756"/>
              </p:ext>
            </p:extLst>
          </p:nvPr>
        </p:nvGraphicFramePr>
        <p:xfrm>
          <a:off x="499672" y="1516483"/>
          <a:ext cx="6485744" cy="45245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7896EE7-D1BC-2365-CF8F-9C1E31AF9742}"/>
              </a:ext>
            </a:extLst>
          </p:cNvPr>
          <p:cNvSpPr/>
          <p:nvPr/>
        </p:nvSpPr>
        <p:spPr>
          <a:xfrm>
            <a:off x="0" y="6779160"/>
            <a:ext cx="12192000" cy="925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E39C72F-5A77-FD21-847C-62D92F894635}"/>
              </a:ext>
            </a:extLst>
          </p:cNvPr>
          <p:cNvSpPr/>
          <p:nvPr/>
        </p:nvSpPr>
        <p:spPr>
          <a:xfrm>
            <a:off x="11720" y="-13872"/>
            <a:ext cx="12192000" cy="925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1580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851373-40E1-215A-503E-9CB5C2CBE1D6}"/>
              </a:ext>
            </a:extLst>
          </p:cNvPr>
          <p:cNvSpPr txBox="1"/>
          <p:nvPr/>
        </p:nvSpPr>
        <p:spPr>
          <a:xfrm>
            <a:off x="2751031" y="329829"/>
            <a:ext cx="66899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Прирост проникновения продуктов в обеих категориях через полгода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A94AA-80B4-62F8-8F1A-F6F2955FC48E}"/>
              </a:ext>
            </a:extLst>
          </p:cNvPr>
          <p:cNvSpPr txBox="1"/>
          <p:nvPr/>
        </p:nvSpPr>
        <p:spPr>
          <a:xfrm>
            <a:off x="6798136" y="1479902"/>
            <a:ext cx="469672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Выводы:</a:t>
            </a:r>
          </a:p>
          <a:p>
            <a:pPr algn="just"/>
            <a:endParaRPr lang="ru-RU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В первой категории проникновение выросло с 32% до 58% за полгода. Во второй – с 22% до 28%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В первой категории наибольший рост проникновения продуктов происходил в феврале, затем снизился в марте – мае и перешел на плато в июне – июле.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Во второй категории наибольший рост произошел в феврале, </a:t>
            </a:r>
            <a:r>
              <a:rPr lang="ru-RU" dirty="0">
                <a:solidFill>
                  <a:srgbClr val="000000"/>
                </a:solidFill>
                <a:latin typeface="-webkit-standard"/>
              </a:rPr>
              <a:t>затем произошла убыль 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в марте, стагнация в апреле - мае, и снова рост в июне - июле.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just"/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FA84385-2DC7-24B4-AD21-0A3D2ADAC81C}"/>
              </a:ext>
            </a:extLst>
          </p:cNvPr>
          <p:cNvSpPr/>
          <p:nvPr/>
        </p:nvSpPr>
        <p:spPr>
          <a:xfrm>
            <a:off x="11720" y="-13872"/>
            <a:ext cx="12192000" cy="925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A56E643-92AB-27A3-EAD0-ABDED9EF9C04}"/>
              </a:ext>
            </a:extLst>
          </p:cNvPr>
          <p:cNvSpPr/>
          <p:nvPr/>
        </p:nvSpPr>
        <p:spPr>
          <a:xfrm>
            <a:off x="0" y="6765484"/>
            <a:ext cx="12192000" cy="925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9791BB57-5201-62E8-8EBC-EA05755F0E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7716223"/>
              </p:ext>
            </p:extLst>
          </p:nvPr>
        </p:nvGraphicFramePr>
        <p:xfrm>
          <a:off x="496018" y="1479901"/>
          <a:ext cx="6302118" cy="4094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21536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851373-40E1-215A-503E-9CB5C2CBE1D6}"/>
              </a:ext>
            </a:extLst>
          </p:cNvPr>
          <p:cNvSpPr txBox="1"/>
          <p:nvPr/>
        </p:nvSpPr>
        <p:spPr>
          <a:xfrm>
            <a:off x="1218412" y="387093"/>
            <a:ext cx="97551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Проникновение продуктов в первой категории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A94AA-80B4-62F8-8F1A-F6F2955FC48E}"/>
              </a:ext>
            </a:extLst>
          </p:cNvPr>
          <p:cNvSpPr txBox="1"/>
          <p:nvPr/>
        </p:nvSpPr>
        <p:spPr>
          <a:xfrm>
            <a:off x="6754092" y="1098964"/>
            <a:ext cx="4992431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700" dirty="0"/>
              <a:t>Выводы:</a:t>
            </a:r>
          </a:p>
          <a:p>
            <a:pPr algn="just"/>
            <a:endParaRPr lang="ru-RU" sz="17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700" b="0" i="0" u="none" strike="noStrike" dirty="0">
                <a:solidFill>
                  <a:srgbClr val="000000"/>
                </a:solidFill>
                <a:effectLst/>
              </a:rPr>
              <a:t>Эквайринг является наиболее распространенным продуктом и демонстрирует наиболее выраженный рост в течение полугода, равный 17%.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7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700" b="0" i="0" u="none" strike="noStrike" dirty="0">
                <a:solidFill>
                  <a:srgbClr val="000000"/>
                </a:solidFill>
                <a:effectLst/>
              </a:rPr>
              <a:t>Проникновение кредитных продуктов является вторым по распространенности, но с конца февраля  по конец июля линейно убывает, демонстрируя снижение на 2%. Итоговый прирост по результатам полугодия равен 5%.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7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700" b="0" i="0" u="none" strike="noStrike" dirty="0">
                <a:solidFill>
                  <a:srgbClr val="000000"/>
                </a:solidFill>
                <a:effectLst/>
              </a:rPr>
              <a:t>Лизинг  стабильно увеличивает проникновение, прирост в течение полугода – 3%</a:t>
            </a:r>
          </a:p>
          <a:p>
            <a:pPr algn="just"/>
            <a:endParaRPr lang="ru-RU" sz="17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rgbClr val="000000"/>
                </a:solidFill>
              </a:rPr>
              <a:t>Проникновение г</a:t>
            </a:r>
            <a:r>
              <a:rPr lang="ru-RU" sz="1700" b="0" i="0" u="none" strike="noStrike" dirty="0">
                <a:solidFill>
                  <a:srgbClr val="000000"/>
                </a:solidFill>
                <a:effectLst/>
              </a:rPr>
              <a:t>арантий и зарплатных проектов практически не меняется и остается равным 5% и 2% соответственно.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700" dirty="0"/>
          </a:p>
          <a:p>
            <a:pPr algn="just"/>
            <a:endParaRPr lang="ru-RU" sz="1700" dirty="0"/>
          </a:p>
        </p:txBody>
      </p: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EB6F9322-84C9-2E82-5012-8578017001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3758667"/>
              </p:ext>
            </p:extLst>
          </p:nvPr>
        </p:nvGraphicFramePr>
        <p:xfrm>
          <a:off x="445477" y="1095345"/>
          <a:ext cx="6308615" cy="5375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717CD38-8462-0F2B-71C9-900CD4105DAE}"/>
              </a:ext>
            </a:extLst>
          </p:cNvPr>
          <p:cNvSpPr/>
          <p:nvPr/>
        </p:nvSpPr>
        <p:spPr>
          <a:xfrm>
            <a:off x="11720" y="-13872"/>
            <a:ext cx="12192000" cy="925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44958D7-FD9F-7DAE-7DEA-F559AC79B2E1}"/>
              </a:ext>
            </a:extLst>
          </p:cNvPr>
          <p:cNvSpPr/>
          <p:nvPr/>
        </p:nvSpPr>
        <p:spPr>
          <a:xfrm>
            <a:off x="11720" y="6765484"/>
            <a:ext cx="12192000" cy="925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1238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851373-40E1-215A-503E-9CB5C2CBE1D6}"/>
              </a:ext>
            </a:extLst>
          </p:cNvPr>
          <p:cNvSpPr txBox="1"/>
          <p:nvPr/>
        </p:nvSpPr>
        <p:spPr>
          <a:xfrm>
            <a:off x="1615190" y="325264"/>
            <a:ext cx="89616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Проникновение продуктов во второй категории</a:t>
            </a: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F0665256-5B87-C148-A7AA-6583785B08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5604970"/>
              </p:ext>
            </p:extLst>
          </p:nvPr>
        </p:nvGraphicFramePr>
        <p:xfrm>
          <a:off x="526847" y="942547"/>
          <a:ext cx="6306942" cy="5273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818077A-DC38-9C43-DEE9-3929A868C97B}"/>
              </a:ext>
            </a:extLst>
          </p:cNvPr>
          <p:cNvSpPr txBox="1"/>
          <p:nvPr/>
        </p:nvSpPr>
        <p:spPr>
          <a:xfrm>
            <a:off x="6833789" y="942547"/>
            <a:ext cx="493058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Выводы:</a:t>
            </a:r>
          </a:p>
          <a:p>
            <a:pPr algn="just"/>
            <a:endParaRPr lang="ru-RU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</a:rPr>
              <a:t>Проникновение э</a:t>
            </a: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квайринга лидирует. После убывания в марте наблюдался рост на протяжении 4 месяцев.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Итоговый прирост по результатам полугодия равен 3%.</a:t>
            </a:r>
            <a:endParaRPr lang="ru-RU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Проникновение кредитных продуктов является вторым по распространенности. </a:t>
            </a: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Кредит сохраняет стабильный уровень на протяжении всего периода.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</a:rPr>
              <a:t>Договор гарантии имеет стабильный и </a:t>
            </a: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более низкий уровень проникновения по сравнению с кредитом и эквайрингом.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Лизинг и зарплатные проекты имеют стабильно 0,1% проникновения.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/>
          </a:p>
          <a:p>
            <a:pPr algn="just"/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B9C7DDA-D623-BF79-CBB0-592D12B0EE20}"/>
              </a:ext>
            </a:extLst>
          </p:cNvPr>
          <p:cNvSpPr/>
          <p:nvPr/>
        </p:nvSpPr>
        <p:spPr>
          <a:xfrm>
            <a:off x="11720" y="-13872"/>
            <a:ext cx="12192000" cy="925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CDAB517-3803-ABB7-4D89-FF2F56A64D2C}"/>
              </a:ext>
            </a:extLst>
          </p:cNvPr>
          <p:cNvSpPr/>
          <p:nvPr/>
        </p:nvSpPr>
        <p:spPr>
          <a:xfrm>
            <a:off x="11720" y="6760661"/>
            <a:ext cx="12192000" cy="925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898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851373-40E1-215A-503E-9CB5C2CBE1D6}"/>
              </a:ext>
            </a:extLst>
          </p:cNvPr>
          <p:cNvSpPr txBox="1"/>
          <p:nvPr/>
        </p:nvSpPr>
        <p:spPr>
          <a:xfrm>
            <a:off x="648569" y="607002"/>
            <a:ext cx="108948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Наибольшее количество клиентов приходится на договор эквайринга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18077A-DC38-9C43-DEE9-3929A868C97B}"/>
              </a:ext>
            </a:extLst>
          </p:cNvPr>
          <p:cNvSpPr txBox="1"/>
          <p:nvPr/>
        </p:nvSpPr>
        <p:spPr>
          <a:xfrm>
            <a:off x="6414868" y="1658580"/>
            <a:ext cx="51285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Выводы:</a:t>
            </a:r>
          </a:p>
          <a:p>
            <a:pPr algn="just"/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Зарплатный проект слабо развит в обеих категориях, этот продукт требует пересмотра стратегии.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Абсолютный разрыв между процентами проникновения максимален в эквайринге - 11.2 </a:t>
            </a:r>
            <a:r>
              <a:rPr lang="ru-RU" sz="1600" dirty="0" err="1"/>
              <a:t>п.п</a:t>
            </a:r>
            <a:r>
              <a:rPr lang="ru-RU" sz="16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Относительный разрыв между категориями максимален в договоре лизинга: процент проникновения в первой выборке превышает процент во второй в 78 раз.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Лизинг практически отсутствует во второй категории - 0,1% проникновения.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Кредитные продукты показывают небольшой разрыв. 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43D3842F-61B0-381E-5F84-A6681F62D9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1950434"/>
              </p:ext>
            </p:extLst>
          </p:nvPr>
        </p:nvGraphicFramePr>
        <p:xfrm>
          <a:off x="346967" y="1658580"/>
          <a:ext cx="6334538" cy="3994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C1739C1-ED3B-109C-17CA-F524F7C93A46}"/>
              </a:ext>
            </a:extLst>
          </p:cNvPr>
          <p:cNvSpPr/>
          <p:nvPr/>
        </p:nvSpPr>
        <p:spPr>
          <a:xfrm>
            <a:off x="11720" y="-13872"/>
            <a:ext cx="12192000" cy="925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2DD9B34-4268-6B12-6917-63D349004311}"/>
              </a:ext>
            </a:extLst>
          </p:cNvPr>
          <p:cNvSpPr/>
          <p:nvPr/>
        </p:nvSpPr>
        <p:spPr>
          <a:xfrm>
            <a:off x="0" y="6760798"/>
            <a:ext cx="12192000" cy="925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15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1582C6-AF11-7507-AA97-A00D5D33E5D5}"/>
              </a:ext>
            </a:extLst>
          </p:cNvPr>
          <p:cNvSpPr txBox="1"/>
          <p:nvPr/>
        </p:nvSpPr>
        <p:spPr>
          <a:xfrm>
            <a:off x="2141347" y="321857"/>
            <a:ext cx="79093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Рекомендации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81C773-6AA0-73A9-8355-B6E573D2D741}"/>
              </a:ext>
            </a:extLst>
          </p:cNvPr>
          <p:cNvSpPr txBox="1"/>
          <p:nvPr/>
        </p:nvSpPr>
        <p:spPr>
          <a:xfrm>
            <a:off x="716546" y="1108588"/>
            <a:ext cx="10758903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Провести анализ различий между категориями клиентов (отрасль, размер бизнеса, срок обслуживания, регион и др.) для выявления факторов, влияющих на уровень проникновения продуктов.</a:t>
            </a:r>
            <a:endParaRPr lang="ru-RU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Использовать успешные практики продвижения эквайринга и кредитных продуктов для развития других банковских продуктов.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Проанализировать причины низкого проникновения зарплатного проекта, </a:t>
            </a:r>
            <a:r>
              <a:rPr lang="ru-RU" dirty="0"/>
              <a:t>лизинга и гарантии</a:t>
            </a:r>
            <a:r>
              <a:rPr lang="ru-RU" dirty="0">
                <a:solidFill>
                  <a:srgbClr val="000000"/>
                </a:solidFill>
              </a:rPr>
              <a:t>,</a:t>
            </a: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 а также оценить целесообразность корректировки стратегии их продвижения.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AF18A98-F934-0535-F9AF-AF84D35BEAE6}"/>
              </a:ext>
            </a:extLst>
          </p:cNvPr>
          <p:cNvSpPr/>
          <p:nvPr/>
        </p:nvSpPr>
        <p:spPr>
          <a:xfrm>
            <a:off x="-2" y="-46258"/>
            <a:ext cx="12192000" cy="925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AF9E5E1-1E59-9F96-E49E-ECE26929A85B}"/>
              </a:ext>
            </a:extLst>
          </p:cNvPr>
          <p:cNvSpPr/>
          <p:nvPr/>
        </p:nvSpPr>
        <p:spPr>
          <a:xfrm>
            <a:off x="0" y="6264322"/>
            <a:ext cx="12192000" cy="59367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4015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629</Words>
  <Application>Microsoft Macintosh PowerPoint</Application>
  <PresentationFormat>Широкоэкранный</PresentationFormat>
  <Paragraphs>71</Paragraphs>
  <Slides>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-webkit-standard</vt:lpstr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Юля Садыкова</dc:creator>
  <cp:lastModifiedBy>Юля Садыкова</cp:lastModifiedBy>
  <cp:revision>18</cp:revision>
  <dcterms:created xsi:type="dcterms:W3CDTF">2026-07-05T07:43:11Z</dcterms:created>
  <dcterms:modified xsi:type="dcterms:W3CDTF">2026-07-05T18:31:17Z</dcterms:modified>
</cp:coreProperties>
</file>